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custDataLst>
    <p:tags r:id="rId22"/>
  </p:custData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研究进展汇报，2026-10-18。三种方法的实验结果由研究者另行补充，本稿不包含性能数值。</a:t>
            </a:r>
          </a:p>
          <a:p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研究按公共缓存访问能力与公共文本控制能力划分。方法一/二可读取公共KV，方法二同时干预发送端公共输入。方法三目标仅控制引导文本，当前仍为软提示与受控复用原型。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方法一：逐token公共KV均方误差重建。方法三：在自有合成记录上监督学习跨患者共享软提示。方法二的完整链路如下。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本页不包含实验性能数值。比较时需注明原始记录数、字段分布、优化预算和评估协议。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G的字段策略：语义字段要求完整复制，号码、邮箱、金额逐字符定位与重组，日期按年、月、日提取与重组。不是把真实答案填入G。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留实验结果留白。报告结果时注明实际缓存输入、引导版本及prepare时间。不能把baseline_token_4gpu或旧缓存结果直接标作新版字段引导结果。比较时控制记录、模型、问题、前缀长度与优化预算，分别分析发送端引导、差分加权与位置更新的贡献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2,328条Synthea合成患者记录，患者划分开发128/训练1000/验证200/测试1000。姓名末尾编号已移除；本版本仅派生提问视图，不改数据值。补充测试集仍是相同1000位患者，姓名、生日、地址不变；100条诊断为训练已见、900条为对应患者原病史中的训练未见诊断。10%按患者记录计算，去重诊断类别的重叠率不同。姓名与生日各三问，组内均值后四组等权。100轮无早停，seed17，全局batch8，模型冻结；负样本完全禁用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本页不包含实验性能数值。新旧姓名/生日提问协议须区分；完整姓名和生日由分项独立生成后拼接评分。诊断补充测试10%为记录级已见比例，不是去重标签比例。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方法一与方法三的实现进展及独立结果保持各自实验口径。方法二已形成字段引导、加权重构与位置更新流程，是否已运行指定引导版本由实际缓存证据决定。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方法一/二假设公共缓存可读，方法二还干预发送端的公共输入，使用允许的字段结构与定位知识。方法三目标降低缓存访问要求，当前为软提示模拟，后续验证离散文本与真实服务。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title"/>
          <p:cNvSpPr>
            <a:spLocks noGrp="1"/>
          </p:cNvSpPr>
          <p:nvPr/>
        </p:nvSpPr>
        <p:spPr>
          <a:xfrm>
            <a:off x="609600" y="1790700"/>
            <a:ext cx="6762750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非前缀缓存复用下的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隐私信息泄露边界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4210050"/>
            <a:ext cx="609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三种方法与研究进展</a:t>
            </a:r>
            <a:endParaRPr sz="2250" b="0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88645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65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研究场景与边界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5133975"/>
            <a:ext cx="10896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研究对象：公共文本位置的上下文化KV，而非私有位置的KV</a:t>
            </a:r>
            <a:endParaRPr sz="217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734050"/>
            <a:ext cx="10896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成立前提：公共文本位于私有记录之后；目标缓存能被后续请求复用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边界声明：合成数据与受控实验不等同于已证明生产系统存在漏洞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340485"/>
            <a:ext cx="5883910" cy="3310255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6710680" y="1340485"/>
            <a:ext cx="4871720" cy="3794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本研究考察非前缀KV缓存复用中的隐私边界。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1．可访问公共缓存，可编辑公共文本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（1）逐token KV重构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（2）字段引导编码增强，结合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Key差分加权与注意力位置更新</a:t>
            </a:r>
            <a:endParaRPr sz="165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2．不可访问目标缓存，可编辑公共文本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（3）训练通用引导，放在公共文本前，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促使私有信息经公共缓存被后续请求恢复。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三种方法均使用模型权重，属于白盒研究。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三种方法总览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09725"/>
          <a:ext cx="10972800" cy="4095750"/>
        </p:xfrm>
        <a:graphic>
          <a:graphicData uri="http://schemas.openxmlformats.org/drawingml/2006/table">
            <a:tbl>
              <a:tblPr/>
              <a:tblGrid>
                <a:gridCol w="2143125"/>
                <a:gridCol w="3286125"/>
                <a:gridCol w="2667000"/>
                <a:gridCol w="287655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攻击者可用信息／控制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优化对象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核心问题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一｜逐token KV重建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冻结模型可用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公共KV本身能支持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多少隐私恢复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二｜字段引导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与加权重构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公共KV可读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可干预发送端公共输入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每条记录的软前缀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G与模型权重固定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引导编码与重构优化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能否增强字段恢复？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84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三｜通用引导学习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离线使用合成训练记录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部署目标：只控制引导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跨患者共享的引导U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当前为软提示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不直接读取目标KV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能否仍恢复私有字段？</a:t>
                      </a:r>
                      <a:endParaRPr sz="180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三种方法对应不同能力与数据设置，结果分别报告，不直接按总分排名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方法一｜逐token KV重建的威胁模型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让替代前缀产生的公共KV接近观测缓存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2764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2764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为每条记录初始化一段软前缀，接上同一份公共文本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3432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3432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逐位置匹配公共文本的Key和Value，各位置按相同规则计入损失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410075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410075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只更新软前缀；训练后用目标问题检验恢复结果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657850"/>
            <a:ext cx="990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L₁ ＝ 公共KV的逐token均方误差</a:t>
            </a:r>
            <a:endParaRPr sz="25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实验设置：四种隐私场景：医疗，企业人事，个人身份信息，银行转账记录。每个场景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个样本合计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方法二｜字段引导与公共缓存访问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固定G增强发送端编码，接收端仅学习替代前缀Uθ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28650" y="227647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</a:t>
            </a: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628650" y="2952750"/>
            <a:ext cx="529590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公共缓存的访问</a:t>
            </a:r>
            <a:r>
              <a:rPr lang="zh-CN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</a:t>
            </a:r>
            <a:endParaRPr lang="zh-CN"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模型参数的访问权限。</a:t>
            </a:r>
            <a:endParaRPr lang="zh-CN"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攻击者知道私有记录的结构，字段类型，并构造针对性的引导文本注入公共文本的前缀</a:t>
            </a:r>
            <a:r>
              <a:rPr lang="zh-CN" altLang="en-US"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endParaRPr lang="zh-CN" altLang="en-US"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28650" y="530542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G固定且不含答案，Uθ可训练且按记录独立优化</a:t>
            </a:r>
            <a:endParaRPr sz="22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8"/>
          <p:cNvSpPr>
            <a:spLocks noGrp="1"/>
          </p:cNvSpPr>
          <p:nvPr/>
        </p:nvSpPr>
        <p:spPr>
          <a:xfrm>
            <a:off x="628650" y="6048375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question_weighted_kv_contrastive_key_attention</a:t>
            </a:r>
            <a:endParaRPr sz="15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发送端用G增强编码，接收端重构同一公共输入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0764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07645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发送端处理S＋G＋P₀，导出G＋P₀位置KV；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纯净参照仅处理G＋P₀，保持相同RoPE位置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1242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12420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接收端处理Uθ＋G＋P₀，用问题Query对ΔK评分，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在G与P₀全部位置上计算加权KV重构损失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17195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171950"/>
            <a:ext cx="100965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用公共权重、重构误差和对Uθ的注意力评分，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缩放Adam更新位移，只更新Uθ，固定G与模型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343525"/>
            <a:ext cx="1009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4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L₂＝加权公共KV均方误差（G与P₀使用同一权重规则）</a:t>
            </a:r>
            <a:endParaRPr sz="240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10"/>
          <p:cNvSpPr>
            <a:spLocks noGrp="1"/>
          </p:cNvSpPr>
          <p:nvPr/>
        </p:nvSpPr>
        <p:spPr>
          <a:xfrm>
            <a:off x="1257300" y="5876925"/>
            <a:ext cx="1009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G：语义完整复制／号码逐字符重组／日期按年月日提取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前400步普通更新，之后位置倍率强度0.75，EMA＝0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恢复分 · 完全匹配 EM · 语义相似度 CS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方法三｜通用引导学习的威胁模型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目标：把控制点从“读取目标缓存”移到“影响公共文本”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28650" y="22955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离线训练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628650" y="2952750"/>
            <a:ext cx="51054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使用自己可控的合成病例和答案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可计算冻结模型对引导的梯度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学习跨患者共享的通用引导U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96050" y="22955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目标部署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6496050" y="2952750"/>
            <a:ext cx="510540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让受害请求读取公共文本前的U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通过正常请求触发非前缀复用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不直接读取私有记录或目标KV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28650" y="5543550"/>
            <a:ext cx="108775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当前原型：共享软提示＋受控缓存复用；文本化与真实服务接入待验证</a:t>
            </a:r>
            <a:endParaRPr sz="21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方法三｜方案设计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学习一份通用U，让公共缓存支持私有字段问答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ep-1"/>
          <p:cNvSpPr>
            <a:spLocks noGrp="1"/>
          </p:cNvSpPr>
          <p:nvPr/>
        </p:nvSpPr>
        <p:spPr>
          <a:xfrm>
            <a:off x="628650" y="22479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1257300" y="22479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对训练病例处理 P＋U＋C，回答时只保留C位置的KV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ep-2"/>
          <p:cNvSpPr>
            <a:spLocks noGrp="1"/>
          </p:cNvSpPr>
          <p:nvPr/>
        </p:nvSpPr>
        <p:spPr>
          <a:xfrm>
            <a:off x="628650" y="32766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1257300" y="32766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仅靠保留的公共缓存，回答姓名、生日、地址与诊断问题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ep-3"/>
          <p:cNvSpPr>
            <a:spLocks noGrp="1"/>
          </p:cNvSpPr>
          <p:nvPr/>
        </p:nvSpPr>
        <p:spPr>
          <a:xfrm>
            <a:off x="628650" y="4305300"/>
            <a:ext cx="4572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8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1257300" y="4305300"/>
            <a:ext cx="9829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用训练答案的交叉熵更新同一份U，再迁移到独立测试患者</a:t>
            </a:r>
            <a:endParaRPr sz="2100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1257300" y="5419725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L₃ ＝ 姓名、生日、地址、诊断四组答案CE的平均</a:t>
            </a:r>
            <a:endParaRPr sz="232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ody-10"/>
          <p:cNvSpPr>
            <a:spLocks noGrp="1"/>
          </p:cNvSpPr>
          <p:nvPr/>
        </p:nvSpPr>
        <p:spPr>
          <a:xfrm>
            <a:off x="1257300" y="6019800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当前版本关闭负样本损失；测试患者不参与U的优化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方法三｜当前实验设置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00200"/>
          <a:ext cx="10972800" cy="4095750"/>
        </p:xfrm>
        <a:graphic>
          <a:graphicData uri="http://schemas.openxmlformats.org/drawingml/2006/table">
            <a:tbl>
              <a:tblPr/>
              <a:tblGrid>
                <a:gridCol w="2190750"/>
                <a:gridCol w="8782050"/>
              </a:tblGrid>
              <a:tr h="5524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数据与划分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Synthea合成病例：开发128／训练1000／验证200／测试1000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隐私字段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自然姓名、出生日期、家庭地址、诊断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问答与损失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姓名三问＋生日三问＋地址＋诊断；四组等权CE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训练与测试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Qwen3-4B；U长度32；100轮无早停；负样本关闭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补充测试：诊断训练已见记录占比10%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6000750"/>
            <a:ext cx="10896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CSV保存8次实际回答，以及完整姓名、完整生日的拼接评分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 · 出生日期 · 地址 · 诊断：四字段EM与分项恢复结果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目前研究进展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657350"/>
          <a:ext cx="10972800" cy="4038600"/>
        </p:xfrm>
        <a:graphic>
          <a:graphicData uri="http://schemas.openxmlformats.org/drawingml/2006/table">
            <a:tbl>
              <a:tblPr/>
              <a:tblGrid>
                <a:gridCol w="2333625"/>
                <a:gridCol w="4333875"/>
                <a:gridCol w="4305300"/>
              </a:tblGrid>
              <a:tr h="5905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已形成的研究内容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下一步验证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一｜基线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800条来源记录、4类场景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逐token KV重建与独立评分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跨字段的恢复表现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不同优化预算下的稳定性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二｜字段引导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与加权重构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字段引导增强公共KV编码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问题引导的Key差分加权重构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注意力引导的软前缀位置更新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确认实际缓存含新版G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分离引导、加权与位置更新的贡献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93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三｜通用引导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共享U；独立患者划分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姓名／生日拆问；无负样本配置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独立患者上的精确恢复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离散文本与真实复用效果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33350" marB="13335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-2"/>
          <p:cNvSpPr>
            <a:spLocks noGrp="1"/>
          </p:cNvSpPr>
          <p:nvPr/>
        </p:nvSpPr>
        <p:spPr>
          <a:xfrm>
            <a:off x="628650" y="5981700"/>
            <a:ext cx="10896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统一主线：从“缓存里能恢复什么”推进到“哪些能力足以触发泄露”</a:t>
            </a:r>
            <a:endParaRPr sz="202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研究边界与后续验证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609600" y="1295400"/>
            <a:ext cx="108204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用三种方法逐步收紧攻击者能力假设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3"/>
          <p:cNvSpPr>
            <a:spLocks noGrp="1"/>
          </p:cNvSpPr>
          <p:nvPr/>
        </p:nvSpPr>
        <p:spPr>
          <a:xfrm>
            <a:off x="647700" y="230505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缓存可读时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4"/>
          <p:cNvSpPr>
            <a:spLocks noGrp="1"/>
          </p:cNvSpPr>
          <p:nvPr/>
        </p:nvSpPr>
        <p:spPr>
          <a:xfrm>
            <a:off x="3600450" y="230505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比较逐token重建与“引导编码＋加权重构＋位置更新”的字段恢复能力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body-5"/>
          <p:cNvSpPr>
            <a:spLocks noGrp="1"/>
          </p:cNvSpPr>
          <p:nvPr/>
        </p:nvSpPr>
        <p:spPr>
          <a:xfrm>
            <a:off x="647700" y="3495675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只控制文本时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dy-6"/>
          <p:cNvSpPr>
            <a:spLocks noGrp="1"/>
          </p:cNvSpPr>
          <p:nvPr/>
        </p:nvSpPr>
        <p:spPr>
          <a:xfrm>
            <a:off x="3600450" y="3495675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将共享软提示推进为离散文本，并接入真实非前缀复用服务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dy-7"/>
          <p:cNvSpPr>
            <a:spLocks noGrp="1"/>
          </p:cNvSpPr>
          <p:nvPr/>
        </p:nvSpPr>
        <p:spPr>
          <a:xfrm>
            <a:off x="647700" y="4686300"/>
            <a:ext cx="27241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复用条件改变时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ody-8"/>
          <p:cNvSpPr>
            <a:spLocks noGrp="1"/>
          </p:cNvSpPr>
          <p:nvPr/>
        </p:nvSpPr>
        <p:spPr>
          <a:xfrm>
            <a:off x="3600450" y="4686300"/>
            <a:ext cx="78676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检验缓存隔离、命中范围和重新计算，是否阻断信息恢复</a:t>
            </a:r>
            <a:endParaRPr sz="2175" b="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ody-9"/>
          <p:cNvSpPr>
            <a:spLocks noGrp="1"/>
          </p:cNvSpPr>
          <p:nvPr/>
        </p:nvSpPr>
        <p:spPr>
          <a:xfrm>
            <a:off x="647700" y="589597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最终回答：在什么访问权限和复用条件下，公共缓存会越过隐私边界？</a:t>
            </a:r>
            <a:endParaRPr sz="21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I4NjEwMmIzYjdlNjk2MGI4OWZlYzc1YWRjNTAwMjg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2123</Words>
  <Application>WPS 演示</Application>
  <PresentationFormat>Converted Presentation</PresentationFormat>
  <Paragraphs>290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Arial Unicode MS</vt:lpstr>
      <vt:lpstr>Aptos</vt:lpstr>
      <vt:lpstr>Segoe Print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</cp:lastModifiedBy>
  <cp:revision>2</cp:revision>
  <dcterms:created xsi:type="dcterms:W3CDTF">2026-10-18T12:30:00Z</dcterms:created>
  <dcterms:modified xsi:type="dcterms:W3CDTF">2026-10-18T13:40:36Z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9996E8AFECAF4A5093C901C8CDA55AB3_12</vt:lpwstr>
  </property>
  <property fmtid="{D5CDD505-2E9C-101B-9397-08002B2CF9AE}" pid="3" name="KSOProductBuildVer">
    <vt:lpwstr>2052-11.1.0.14309</vt:lpwstr>
  </property>
</Properties>
</file>
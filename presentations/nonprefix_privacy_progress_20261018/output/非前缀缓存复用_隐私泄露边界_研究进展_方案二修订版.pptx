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c6d737c4ae48db" /><Relationship Type="http://schemas.openxmlformats.org/officeDocument/2006/relationships/extended-properties" Target="/docProps/app.xml" Id="R318ee8aa1a084c35" /><Relationship Type="http://schemas.openxmlformats.org/officeDocument/2006/relationships/officeDocument" Target="/ppt/presentation.xml" Id="R531575eebacc43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966e3d65e74be7"/>
  </p:sldMasterIdLst>
  <p:notesMasterIdLst>
    <p:notesMasterId xmlns:r="http://schemas.openxmlformats.org/officeDocument/2006/relationships" r:id="Ra642e5e48b89418f"/>
  </p:notesMasterIdLst>
  <p:sldIdLst>
    <p:sldId xmlns:r="http://schemas.openxmlformats.org/officeDocument/2006/relationships" id="256" r:id="Rf03c9edfef844e05"/>
    <p:sldId xmlns:r="http://schemas.openxmlformats.org/officeDocument/2006/relationships" id="257" r:id="Rd80a8f98637242fe"/>
    <p:sldId xmlns:r="http://schemas.openxmlformats.org/officeDocument/2006/relationships" id="258" r:id="Rfdc20fa343d846f1"/>
    <p:sldId xmlns:r="http://schemas.openxmlformats.org/officeDocument/2006/relationships" id="259" r:id="R2f75c8748151460c"/>
    <p:sldId xmlns:r="http://schemas.openxmlformats.org/officeDocument/2006/relationships" id="260" r:id="R368e9b2b77cb480a"/>
    <p:sldId xmlns:r="http://schemas.openxmlformats.org/officeDocument/2006/relationships" id="261" r:id="Rcb3c259ee5d84d7e"/>
    <p:sldId xmlns:r="http://schemas.openxmlformats.org/officeDocument/2006/relationships" id="262" r:id="Rbdca9ecf39bd4769"/>
    <p:sldId xmlns:r="http://schemas.openxmlformats.org/officeDocument/2006/relationships" id="263" r:id="Rb09fd90418b5482c"/>
    <p:sldId xmlns:r="http://schemas.openxmlformats.org/officeDocument/2006/relationships" id="264" r:id="Rfdcddbddba3c4b32"/>
    <p:sldId xmlns:r="http://schemas.openxmlformats.org/officeDocument/2006/relationships" id="265" r:id="Rc99619f05ed843e8"/>
    <p:sldId xmlns:r="http://schemas.openxmlformats.org/officeDocument/2006/relationships" id="266" r:id="R02d03dd3bf864d5c"/>
    <p:sldId xmlns:r="http://schemas.openxmlformats.org/officeDocument/2006/relationships" id="267" r:id="R8740808d310d4411"/>
    <p:sldId xmlns:r="http://schemas.openxmlformats.org/officeDocument/2006/relationships" id="268" r:id="R029b5db2cfcd4292"/>
    <p:sldId xmlns:r="http://schemas.openxmlformats.org/officeDocument/2006/relationships" id="269" r:id="Re30a6b4a8a2b4554"/>
    <p:sldId xmlns:r="http://schemas.openxmlformats.org/officeDocument/2006/relationships" id="270" r:id="R00d552cdee0c48f1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37aee7a8d942fa" /><Relationship Type="http://schemas.openxmlformats.org/officeDocument/2006/relationships/slideMaster" Target="/ppt/slideMasters/slideMaster1.xml" Id="R34966e3d65e74be7" /><Relationship Type="http://schemas.openxmlformats.org/officeDocument/2006/relationships/notesMaster" Target="/ppt/notesMasters/notesMaster1.xml" Id="Ra642e5e48b89418f" /><Relationship Type="http://schemas.openxmlformats.org/officeDocument/2006/relationships/presProps" Target="/ppt/presProps.xml" Id="R07665a9fda7c4790" /><Relationship Type="http://schemas.openxmlformats.org/officeDocument/2006/relationships/viewProps" Target="/ppt/viewProps.xml" Id="R7b034e14c74f408b" /><Relationship Type="http://schemas.openxmlformats.org/officeDocument/2006/relationships/tableStyles" Target="/ppt/tableStyles.xml" Id="R64af079c3d084900" /><Relationship Type="http://schemas.openxmlformats.org/officeDocument/2006/relationships/slide" Target="/ppt/slides/slide1.xml" Id="Rf03c9edfef844e05" /><Relationship Type="http://schemas.openxmlformats.org/officeDocument/2006/relationships/slide" Target="/ppt/slides/slide2.xml" Id="Rd80a8f98637242fe" /><Relationship Type="http://schemas.openxmlformats.org/officeDocument/2006/relationships/slide" Target="/ppt/slides/slide3.xml" Id="Rfdc20fa343d846f1" /><Relationship Type="http://schemas.openxmlformats.org/officeDocument/2006/relationships/slide" Target="/ppt/slides/slide4.xml" Id="R2f75c8748151460c" /><Relationship Type="http://schemas.openxmlformats.org/officeDocument/2006/relationships/slide" Target="/ppt/slides/slide5.xml" Id="R368e9b2b77cb480a" /><Relationship Type="http://schemas.openxmlformats.org/officeDocument/2006/relationships/slide" Target="/ppt/slides/slide6.xml" Id="Rcb3c259ee5d84d7e" /><Relationship Type="http://schemas.openxmlformats.org/officeDocument/2006/relationships/slide" Target="/ppt/slides/slide7.xml" Id="Rbdca9ecf39bd4769" /><Relationship Type="http://schemas.openxmlformats.org/officeDocument/2006/relationships/slide" Target="/ppt/slides/slide8.xml" Id="Rb09fd90418b5482c" /><Relationship Type="http://schemas.openxmlformats.org/officeDocument/2006/relationships/slide" Target="/ppt/slides/slide9.xml" Id="Rfdcddbddba3c4b32" /><Relationship Type="http://schemas.openxmlformats.org/officeDocument/2006/relationships/slide" Target="/ppt/slides/slide10.xml" Id="Rc99619f05ed843e8" /><Relationship Type="http://schemas.openxmlformats.org/officeDocument/2006/relationships/slide" Target="/ppt/slides/slide11.xml" Id="R02d03dd3bf864d5c" /><Relationship Type="http://schemas.openxmlformats.org/officeDocument/2006/relationships/slide" Target="/ppt/slides/slide12.xml" Id="R8740808d310d4411" /><Relationship Type="http://schemas.openxmlformats.org/officeDocument/2006/relationships/slide" Target="/ppt/slides/slide13.xml" Id="R029b5db2cfcd4292" /><Relationship Type="http://schemas.openxmlformats.org/officeDocument/2006/relationships/slide" Target="/ppt/slides/slide14.xml" Id="Re30a6b4a8a2b4554" /><Relationship Type="http://schemas.openxmlformats.org/officeDocument/2006/relationships/slide" Target="/ppt/slides/slide15.xml" Id="R00d552cdee0c48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1f0fed8bec42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3a82dc86ac4e79" /><Relationship Type="http://schemas.openxmlformats.org/officeDocument/2006/relationships/notesMaster" Target="/ppt/notesMasters/notesMaster1.xml" Id="R406e6e7c9cfb48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c801d8f89149f2" /><Relationship Type="http://schemas.openxmlformats.org/officeDocument/2006/relationships/notesMaster" Target="/ppt/notesMasters/notesMaster1.xml" Id="Rc07f07c49eb54b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718bfe929b4bd7" /><Relationship Type="http://schemas.openxmlformats.org/officeDocument/2006/relationships/notesMaster" Target="/ppt/notesMasters/notesMaster1.xml" Id="R49b3b6b1d44944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6510a998c44598" /><Relationship Type="http://schemas.openxmlformats.org/officeDocument/2006/relationships/notesMaster" Target="/ppt/notesMasters/notesMaster1.xml" Id="R2a5de5aafc484d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36f9e4cb234404" /><Relationship Type="http://schemas.openxmlformats.org/officeDocument/2006/relationships/notesMaster" Target="/ppt/notesMasters/notesMaster1.xml" Id="Rfa199697fe9746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c4a56f2af24aed" /><Relationship Type="http://schemas.openxmlformats.org/officeDocument/2006/relationships/notesMaster" Target="/ppt/notesMasters/notesMaster1.xml" Id="R915585895fdc42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825718b4ba4070" /><Relationship Type="http://schemas.openxmlformats.org/officeDocument/2006/relationships/notesMaster" Target="/ppt/notesMasters/notesMaster1.xml" Id="R83a2d15f12434e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024f4b8f7c4721" /><Relationship Type="http://schemas.openxmlformats.org/officeDocument/2006/relationships/notesMaster" Target="/ppt/notesMasters/notesMaster1.xml" Id="Rf49866bb47b44e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6e57baba0a484f" /><Relationship Type="http://schemas.openxmlformats.org/officeDocument/2006/relationships/notesMaster" Target="/ppt/notesMasters/notesMaster1.xml" Id="Rc984939379844b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3bb6f64adc4c38" /><Relationship Type="http://schemas.openxmlformats.org/officeDocument/2006/relationships/notesMaster" Target="/ppt/notesMasters/notesMaster1.xml" Id="R74e0511f64aa4d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92a76c09ab425c" /><Relationship Type="http://schemas.openxmlformats.org/officeDocument/2006/relationships/notesMaster" Target="/ppt/notesMasters/notesMaster1.xml" Id="R06758ba961ad43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2c3ec099794692" /><Relationship Type="http://schemas.openxmlformats.org/officeDocument/2006/relationships/notesMaster" Target="/ppt/notesMasters/notesMaster1.xml" Id="R9f1467b0150343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eb856b24714ec6" /><Relationship Type="http://schemas.openxmlformats.org/officeDocument/2006/relationships/notesMaster" Target="/ppt/notesMasters/notesMaster1.xml" Id="Rc6f4a82620014b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44c7bab0b9545c8" /><Relationship Type="http://schemas.openxmlformats.org/officeDocument/2006/relationships/notesMaster" Target="/ppt/notesMasters/notesMaster1.xml" Id="R8b23974a174e45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aa0a27cd5bc49a7" /><Relationship Type="http://schemas.openxmlformats.org/officeDocument/2006/relationships/notesMaster" Target="/ppt/notesMasters/notesMaster1.xml" Id="R68453eb3710447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研究进展汇报，2026-10-18。三种方法的实验结果由研究者另行补充，本稿不包含性能数值。</a:t>
            </a:r>
          </a:p>
          <a:p xmlns:a="http://schemas.openxmlformats.org/drawingml/2006/main">
            <a:r>
              <a:t>Sources: D:/Stepby/kv-cache研究/kv_agent/kv_priv/README.md; D:/Stepby/kv-cache研究/kv_agent/kv_priv/威胁模型.md;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  <a:p xmlns:a="http://schemas.openxmlformats.org/drawingml/2006/main">
            <a:r>
              <a:t>Image: built-in image_gen conceptual illustration; not a photograph or system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P：私有上下文；C：公共文本；KV(C|P)：在P之后计算、仅保留C位置的缓存。图示为研究假设，不表示任何特定线上系统已出现泄露。非前缀复用并不自动推出跨用户共享或私有上下文泄露。</a:t>
            </a:r>
          </a:p>
          <a:p xmlns:a="http://schemas.openxmlformats.org/drawingml/2006/main">
            <a:r>
              <a:t>Sources: D:/Stepby/kv-cache研究/kv_agent/kv_priv/README.md; D:/Stepby/kv-cache研究/kv_agent/kv_priv/威胁模型.md; https://docs.lmcache.ai/kv_cache_optimizations/cacheblend.html (accessed 2026-10-18). Describes non-prefix chunk reuse with selective recomputation; does not establish cross-user private-context cache leakage.</a:t>
            </a:r>
          </a:p>
          <a:p xmlns:a="http://schemas.openxmlformats.org/drawingml/2006/main">
            <a:r>
              <a:t>Image: built-in image_gen scientific schematic.</a:t>
            </a:r>
          </a:p>
          <a:p xmlns:a="http://schemas.openxmlformats.org/drawingml/2006/main">
            <a:r>
              <a:t>方案二已修正为问题引导的公共Key差分加权＋注意力引导的软前缀位置更新。缓存、冻结模型与问题可用，真实私有原文、私有KV和答案不可读。attention指缩放Adam更新位移，损失只有加权KV MSE。</a:t>
            </a:r>
          </a:p>
          <a:p xmlns:a="http://schemas.openxmlformats.org/drawingml/2006/main">
            <a:r>
              <a:t>Sources: D:/Stepby/kv-cache研究/kv_agent/kv_priv/configs/experiment_1.json; configs/800_guided_v3_zh_4gpu.json; experiment/objectives.py; experiment/prefix_importance.py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方法一的逐token损失是公共KV张量的逐位置MSE，不是私有答案交叉熵。方法二沿用公共缓存可读的威胁模型，额外计算同RoPE位置的纯净公共缓存；问题对Key差分评分生成公共位置权重，以加权KV MSE优化软前缀，注意力机制缩放Adam产生的各位置更新位移。主配置base_loss=none、lambda_base=0、lambda_weighted=1，不读取私有原文、私有KV或答案。方法三使用可控合成训练记录的标签学习共享软提示，目标部署能力不含目标缓存读取，尚需离散文本和真实复用验证。</a:t>
            </a:r>
          </a:p>
          <a:p xmlns:a="http://schemas.openxmlformats.org/drawingml/2006/main">
            <a:r>
              <a:t>Sources: D:/Stepby/kv-cache研究/kv_agent/kv_priv/configs/baseline_token.json; D:/Stepby/kv-cache研究/kv_agent/kv_priv/experiment/backend.py (kv_losses); experiment/objectives.py (Objective.compute); D:/Stepby/kv-cache研究/kv_agent/kv_priv/configs/experiment_1.json; D:/Stepby/kv-cache研究/kv_agent/kv_priv/configs/800_guided_v3_zh_4gpu.json; D:/Stepby/kv-cache研究/kv_agent/kv_priv/experiment/objectives.py; D:/Stepby/kv-cache研究/kv_agent/kv_priv/experiment/prefix_importance.py;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接收端只读取receiver_cache、冻结模型和训练状态；训练不读取私有原文、真实私有KV或目标答案。已知原私有前缀长度及位置偏移。真实私有记录和答案只在可信prepare/evaluate阶段使用。</a:t>
            </a:r>
          </a:p>
          <a:p xmlns:a="http://schemas.openxmlformats.org/drawingml/2006/main">
            <a:r>
              <a:t>Sources: D:/Stepby/kv-cache研究/kv_agent/kv_priv/README.md; D:/Stepby/kv-cache研究/kv_agent/kv_priv/威胁模型.md; D:/Stepby/kv-cache研究/kv_agent/kv_priv/configs/baseline_token.json; D:/Stepby/kv-cache研究/kv_agent/kv_priv/experiment/backend.py (kv_losses); experiment/objectives.py (Objective.compute)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Objective.compute的baseline选用base_loss=token，kv_losses对每层K和V的对应位置做均方误差并取均值。按样本优化软前缀，模型冻结；目标字段只在可信评估端评分。</a:t>
            </a:r>
          </a:p>
          <a:p xmlns:a="http://schemas.openxmlformats.org/drawingml/2006/main">
            <a:r>
              <a:t>Sources: D:/Stepby/kv-cache研究/kv_agent/kv_priv/configs/baseline_token.json; D:/Stepby/kv-cache研究/kv_agent/kv_priv/experiment/backend.py (kv_losses); experiment/objectives.py (Objective.compute)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本页不包含实验性能数值。比较时需注明原始记录数、字段分布、优化预算和评估协议。</a:t>
            </a:r>
          </a:p>
          <a:p xmlns:a="http://schemas.openxmlformats.org/drawingml/2006/main">
            <a:r>
              <a:t>Sources: D:/Stepby/kv-cache研究/kv_agent/kv_priv/configs/baseline_token.json; D:/Stepby/kv-cache研究/kv_agent/kv_priv/experiment/backend.py (kv_losses); experiment/objectives.py (Objective.compute)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名称：问题引导的公共Key差分加权＋注意力引导的软前缀位置更新。方法标识question_weighted_kv_contrastive_key_attention。沿用方法一公共KV可读的威胁模型：已知公共文本、冻结模型、目标问题、原私有前缀长度与RoPE偏移；可读取观测公共KV，不能读取私有原文、私有位置KV或真实答案。仅处理公共文本并保持相同RoPE位置，得到纯净公共缓存。固定公共引导不是本算法的新增能力假设。两份配置可以使用不同公共输入，比较时应控制公共文本。权重、位置评分和训练目标均不读取真实私有内容或答案。</a:t>
            </a:r>
          </a:p>
          <a:p xmlns:a="http://schemas.openxmlformats.org/drawingml/2006/main">
            <a:r>
              <a:t>Sources: D:/Stepby/kv-cache研究/kv_agent/kv_priv/configs/experiment_1.json; D:/Stepby/kv-cache研究/kv_agent/kv_priv/configs/800_guided_v3_zh_4gpu.json; D:/Stepby/kv-cache研究/kv_agent/kv_priv/experiment/objectives.py; D:/Stepby/kv-cache研究/kv_agent/kv_priv/experiment/prefix_importance.py; D:/Stepby/kv-cache研究/kv_agent/kv_priv/README.md; D:/Stepby/kv-cache研究/kv_agent/kv_priv/威胁模型.md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方法标识question_weighted_kv_contrastive_key_attention。</a:t>
            </a:r>
          </a:p>
          <a:p xmlns:a="http://schemas.openxmlformats.org/drawingml/2006/main">
            <a:r>
              <a:t>1. 计算每层公共位置的Key差分ΔK_j=Kobs_j−Kclean_j。问题在观测公共KV和更早问题token条件下产生Q_t，打分a_tj=softmax_{j∈公共位置}(Q_t^T ΔK_j/(sqrt(d) τ))；τ=1，softmax仅在公共位置归一化；问题token均匀平均，再将查询头聚合到对应KV头。权重w_j=0.1+0.9|P| ā_j，此处P为公共位置集合。权重停止梯度。评分依据与问题相关的上下文影响，不保证答案正确。</a:t>
            </a:r>
          </a:p>
          <a:p xmlns:a="http://schemas.openxmlformats.org/drawingml/2006/main">
            <a:r>
              <a:t>2. 冻结模型，只优化每条记录的软前缀U，使U+公共文本产生的公共KV逼近观测KV。L=Avg_{层、头、K/V}[Σ_j w_j MSE(KV^U_j,KVobs_j)/Σ_j w_j]。base_loss=none、lambda_base=0、lambda_weighted=1，无额外注意力对齐或私有答案损失。</a:t>
            </a:r>
          </a:p>
          <a:p xmlns:a="http://schemas.openxmlformats.org/drawingml/2006/main">
            <a:r>
              <a:t>3. 注意力版位置更新：公共位置的问题权重×当前KV重构误差×该公共位置对软前缀位置的注意力，聚合为每个前缀位置的分数。评分停止梯度，再缩放Adam实际产生的更新位移；不改变前述损失组成。前400步普通更新，之后启用位置倍率；强度0.75，位置评分EMA衰减0。权重计算、位置评分和训练目标均不读取真实私有内容或答案。</a:t>
            </a:r>
          </a:p>
          <a:p xmlns:a="http://schemas.openxmlformats.org/drawingml/2006/main">
            <a:r>
              <a:t>Sources: D:/Stepby/kv-cache研究/kv_agent/kv_priv/configs/experiment_1.json; D:/Stepby/kv-cache研究/kv_agent/kv_priv/configs/800_guided_v3_zh_4gpu.json;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包含实验性能数值。方法为question_weighted_kv_contrastive_key_attention。比较时控制公共文本、患者、问题、模型、前缀长度和优化预算；分别评估Key差分加权与注意力位置更新的贡献。两份主配置的公共输入可以不同，不据此自动宣称等条件。</a:t>
            </a:r>
          </a:p>
          <a:p xmlns:a="http://schemas.openxmlformats.org/drawingml/2006/main">
            <a:r>
              <a:t>Sources: D:/Stepby/kv-cache研究/kv_agent/kv_priv/configs/experiment_1.json; D:/Stepby/kv-cache研究/kv_agent/kv_priv/configs/800_guided_v3_zh_4gpu.json;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区分离线训练与目标部署能力。离线训练可以使用本地冻结模型的梯度，以及独立合成训练患者和标签；攻击目标患者不参与引导优化。目标部署不直接读取或修改受害者KV，但要求受害者处理引导+公共文本，后续请求命中受到私有上下文影响的公共缓存。当前实现为软提示和显式缓存截取/复用，不是已经完成纯文本黑盒攻击。</a:t>
            </a:r>
          </a:p>
          <a:p xmlns:a="http://schemas.openxmlformats.org/drawingml/2006/main"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为合成私有记录、U为共享的32个软提示向量、C为固定公共文本。编码P+U+C后只保留C位置KV，问答损失通过C的KV反传到U；模型权重冻结。U跨训练患者共享，不按每条测试记录重新拟合。当前主配置负例enabled=false。输出不是已完成的可粘贴文本。</a:t>
            </a:r>
          </a:p>
          <a:p xmlns:a="http://schemas.openxmlformats.org/drawingml/2006/main"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2,328条Synthea合成患者记录，患者划分开发128/训练1000/验证200/测试1000。姓名末尾编号已移除；本版本仅派生提问视图，不改数据值。补充测试集仍是相同1000位患者，姓名、生日、地址不变；100条诊断为训练已见、900条为对应患者原病史中的训练未见诊断。10%按患者记录计算，去重诊断类别的重叠率不同。姓名与生日各三问，组内均值后四组等权。100轮无早停，seed17，全局batch8，模型冻结；负样本完全禁用。</a:t>
            </a:r>
          </a:p>
          <a:p xmlns:a="http://schemas.openxmlformats.org/drawingml/2006/main"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本页不包含实验性能数值。新旧姓名/生日提问协议须区分；完整姓名和生日由分项独立生成后拼接评分。诊断补充测试10%为记录级已见比例，不是去重标签比例。</a:t>
            </a:r>
          </a:p>
          <a:p xmlns:a="http://schemas.openxmlformats.org/drawingml/2006/main"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只描述已存在的研究材料与实现，不填入用户尚未贴入的实验性能结论，也不声称最新姓名拆问版本已完成服务器GPU训练。kv_priv已有缓存准备、接收端训练、可信评估与独立评分流程。方法二主配置采用问题引导的公共Key差分加权＋注意力引导的软前缀位置更新，后者缩放Adam位移，不增加注意力损失项。通用引导的当前实现、95项检查及CPU小模型流程属于实现验证，不等同于真实服务安全证明。</a:t>
            </a:r>
          </a:p>
          <a:p xmlns:a="http://schemas.openxmlformats.org/drawingml/2006/main">
            <a:r>
              <a:t>Sources: D:/Stepby/kv-cache研究/kv_agent/kv_priv/configs/baseline_token.json; D:/Stepby/kv-cache研究/kv_agent/kv_priv/experiment/backend.py (kv_losses); experiment/objectives.py (Objective.compute); D:/Stepby/kv-cache研究/kv_agent/kv_priv/configs/experiment_1.json; D:/Stepby/kv-cache研究/kv_agent/kv_priv/configs/800_guided_v3_zh_4gpu.json; D:/Stepby/kv-cache研究/kv_agent/kv_priv/experiment/objectives.py; D:/Stepby/kv-cache研究/kv_agent/kv_priv/experiment/prefix_importance.py;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data/dataset_diagnosis_overlap10/manifest.json; D:/Stepby/kv-cache研究/medical_privacy_prompt/runs/implementation_checks/name_birth_parts_no_negatives_v1_verification.json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主张是确定条件性隐私泄露边界，不将非前缀缓存复用本身等同于漏洞。方法一/二假设可读公共KV；方法三目标减少缓存访问能力但当前仍为软提示模拟。后续需要离散文本、真实缓存服务的跨请求命中验证，以及隔离/重新计算等对照。</a:t>
            </a:r>
          </a:p>
          <a:p xmlns:a="http://schemas.openxmlformats.org/drawingml/2006/main">
            <a:r>
              <a:t>Sources: D:/Stepby/kv-cache研究/kv_agent/kv_priv/README.md; D:/Stepby/kv-cache研究/kv_agent/kv_priv/威胁模型.md;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data/dataset_diagnosis_overlap10/manifest.json; https://docs.lmcache.ai/kv_cache_optimizations/cacheblend.html (accessed 2026-10-18). Describes non-prefix chunk reuse with selective recomputation; does not establish cross-user private-context cache leakage.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0741c7c734b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62bc53d7142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e9b888e2643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e0c969cf441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b3e23eeb848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97342253942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01B355-F501-4E7E-BA4C-DD2D934AD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CA5EB39-8A4F-4150-8BE5-A7F087FF63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3D450A-C2A4-4FBC-B6A8-A1BFF8A015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809CDB-5CCA-44DA-84C3-4106C68455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75165F-0B23-439F-9ADB-A087DD9C3D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9A0B194-D977-4F40-8D04-8AE93830A5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324141-32A6-42AA-9B9E-F4F9F6FAF4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552987-7DF2-43DF-860D-B6D83553E9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5BD293-6A4F-4C1D-9C8A-C2C2CCB9CD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0C8D4E-7213-4E88-A65C-403CF94DAE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24773662a446a7" /><Relationship Type="http://schemas.openxmlformats.org/officeDocument/2006/relationships/slideLayout" Target="/ppt/slideLayouts/slideLayout1.xml" Id="Re638868017394227" /><Relationship Type="http://schemas.openxmlformats.org/officeDocument/2006/relationships/slideLayout" Target="/ppt/slideLayouts/slideLayout2.xml" Id="R7c0dcc3cf9354091" /><Relationship Type="http://schemas.openxmlformats.org/officeDocument/2006/relationships/slideLayout" Target="/ppt/slideLayouts/slideLayout3.xml" Id="Rfe52e89195324a46" /><Relationship Type="http://schemas.openxmlformats.org/officeDocument/2006/relationships/slideLayout" Target="/ppt/slideLayouts/slideLayout4.xml" Id="R3ceca34c03974a83" /><Relationship Type="http://schemas.openxmlformats.org/officeDocument/2006/relationships/slideLayout" Target="/ppt/slideLayouts/slideLayout5.xml" Id="R0fb604784fbd42b6" /><Relationship Type="http://schemas.openxmlformats.org/officeDocument/2006/relationships/slideLayout" Target="/ppt/slideLayouts/slideLayout6.xml" Id="R9e1a029bbafa417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38868017394227"/>
    <p:sldLayoutId xmlns:r="http://schemas.openxmlformats.org/officeDocument/2006/relationships" id="2147483650" r:id="R7c0dcc3cf9354091"/>
    <p:sldLayoutId xmlns:r="http://schemas.openxmlformats.org/officeDocument/2006/relationships" id="2147483651" r:id="Rfe52e89195324a46"/>
    <p:sldLayoutId xmlns:r="http://schemas.openxmlformats.org/officeDocument/2006/relationships" id="2147483652" r:id="R3ceca34c03974a83"/>
    <p:sldLayoutId xmlns:r="http://schemas.openxmlformats.org/officeDocument/2006/relationships" id="2147483653" r:id="R0fb604784fbd42b6"/>
    <p:sldLayoutId xmlns:r="http://schemas.openxmlformats.org/officeDocument/2006/relationships" id="2147483654" r:id="R9e1a029bbafa41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d67f74580846a3" /><Relationship Type="http://schemas.openxmlformats.org/officeDocument/2006/relationships/image" Target="/ppt/media/image.png" Id="Rf9e4d1408a954993" /><Relationship Type="http://schemas.openxmlformats.org/officeDocument/2006/relationships/notesSlide" Target="/ppt/notesSlides/notesSlide1.xml" Id="Reecc0763201540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dbf768efa4868" /><Relationship Type="http://schemas.openxmlformats.org/officeDocument/2006/relationships/image" Target="/ppt/media/image.jpeg" Id="Ra993ac7aab804b89" /><Relationship Type="http://schemas.openxmlformats.org/officeDocument/2006/relationships/notesSlide" Target="/ppt/notesSlides/notesSlide2.xml" Id="R4aaf6e6dcb0945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4309c32b6b40e7" /><Relationship Type="http://schemas.openxmlformats.org/officeDocument/2006/relationships/notesSlide" Target="/ppt/notesSlides/notesSlide3.xml" Id="R5072c498ee6c4a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13a591e33447fd" /><Relationship Type="http://schemas.openxmlformats.org/officeDocument/2006/relationships/notesSlide" Target="/ppt/notesSlides/notesSlide4.xml" Id="Rfaeac152ffbf46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4a0b981aaa43af" /><Relationship Type="http://schemas.openxmlformats.org/officeDocument/2006/relationships/notesSlide" Target="/ppt/notesSlides/notesSlide5.xml" Id="R0975dcc850a841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aa625b4f9d42ba" /><Relationship Type="http://schemas.openxmlformats.org/officeDocument/2006/relationships/notesSlide" Target="/ppt/notesSlides/notesSlide6.xml" Id="R554e8d0a339e49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83897b882b4642" /><Relationship Type="http://schemas.openxmlformats.org/officeDocument/2006/relationships/notesSlide" Target="/ppt/notesSlides/notesSlide7.xml" Id="R395e6cf2603b4c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ab863c199c4d66" /><Relationship Type="http://schemas.openxmlformats.org/officeDocument/2006/relationships/notesSlide" Target="/ppt/notesSlides/notesSlide8.xml" Id="Re5e082a3f2004c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66e0b95e9a43b2" /><Relationship Type="http://schemas.openxmlformats.org/officeDocument/2006/relationships/notesSlide" Target="/ppt/notesSlides/notesSlide9.xml" Id="Re4c817f7c04648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6ce1788c45477d" /><Relationship Type="http://schemas.openxmlformats.org/officeDocument/2006/relationships/notesSlide" Target="/ppt/notesSlides/notesSlide10.xml" Id="R52def0940f9747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6cb1b0c0724dc8" /><Relationship Type="http://schemas.openxmlformats.org/officeDocument/2006/relationships/notesSlide" Target="/ppt/notesSlides/notesSlide11.xml" Id="Rc2709ca46a764d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d9688a23804781" /><Relationship Type="http://schemas.openxmlformats.org/officeDocument/2006/relationships/notesSlide" Target="/ppt/notesSlides/notesSlide12.xml" Id="R4fff91972ad144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5ea2231168415e" /><Relationship Type="http://schemas.openxmlformats.org/officeDocument/2006/relationships/notesSlide" Target="/ppt/notesSlides/notesSlide13.xml" Id="R3fdb15d8777744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062eb363d4df0" /><Relationship Type="http://schemas.openxmlformats.org/officeDocument/2006/relationships/notesSlide" Target="/ppt/notesSlides/notesSlide14.xml" Id="R4bc672ff24374f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26afee095f4e16" /><Relationship Type="http://schemas.openxmlformats.org/officeDocument/2006/relationships/notesSlide" Target="/ppt/notesSlides/notesSlide15.xml" Id="R418f92c7ff704f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C62D23E-D174-436F-90DC-C278A96C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2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99402D51-232D-4B15-8717-68732B5CBF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4d1408a95499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CD9D474-D743-48E1-B314-8723AEEF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7627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43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43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43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43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43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43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43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43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43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43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非前缀缓存复用下的</a:t>
            </a:r>
            <a:endParaRPr sz="435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35000"/>
              </a:lnSpc>
              <a:buNone/>
              <a:defRPr sz="43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隐私信息泄露边界</a:t>
            </a:r>
            <a:endParaRPr sz="435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F4DEF1C6-E230-4792-A5F9-F21C3F84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609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0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0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0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0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0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0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0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0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0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0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三种方法与研究进展</a:t>
            </a:r>
            <a:endParaRPr sz="2250" b="0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EA9A0F4F-4FC9-4D3A-968E-DA229E41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165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2026.10</a:t>
            </a:r>
            <a:endParaRPr sz="1650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725302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073D77-EA35-47EA-9586-5ACCAC35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研究场景与边界</a:t>
            </a:r>
            <a:endParaRPr sz="330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7580076-8FB4-450F-9EEA-533885F3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2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B100C8F2-90AF-471E-B74C-ABD89643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7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7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7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7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7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7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7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7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7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7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研究对象：公共文本位置的上下文化KV，而非私有位置的KV</a:t>
            </a:r>
            <a:endParaRPr sz="2175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E62D0A19-D482-4898-B8A2-5BE6FD52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10896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成立前提：公共文本位于私有记录之后；目标缓存能被后续请求复用</a:t>
            </a:r>
            <a:endParaRPr sz="1800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边界声明：合成数据与受控实验不等同于已证明生产系统存在漏洞</a:t>
            </a:r>
            <a:endParaRPr sz="1800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图片 7">
            <a:extLst xmlns:a="http://schemas.openxmlformats.org/drawingml/2006/main">
              <a:ext uri="{FF2B5EF4-FFF2-40B4-BE49-F238E27FC236}">
                <a16:creationId xmlns:a16="http://schemas.microsoft.com/office/drawing/2014/main" id="{B565F1F9-35A9-449B-B18B-57B5F6E390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3ac7aab804b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670" y="1340485"/>
            <a:ext cx="5883910" cy="3310255"/>
          </a:xfrm>
          <a:prstGeom xmlns:a="http://schemas.openxmlformats.org/drawingml/2006/main" prst="rect">
            <a:avLst/>
          </a:prstGeom>
        </p:spPr>
      </p:pic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08E7D0E6-0E66-4776-B3B2-AC9148ED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680" y="1340485"/>
            <a:ext cx="4871720" cy="3794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本研究考察非前缀KV缓存复用中的隐私边界。</a:t>
            </a:r>
            <a:endParaRPr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/>
            </a:r>
            <a:endParaRPr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1．可访问公共缓存，可编辑公共文本</a:t>
            </a:r>
            <a:endParaRPr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（1）逐token KV重构</a:t>
            </a:r>
            <a:endParaRPr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（2）Key差分加权＋注意力位置更新</a:t>
            </a:r>
            <a:endParaRPr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/>
            </a:r>
            <a:endParaRPr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2．不可访问目标缓存，可编辑公共文本</a:t>
            </a:r>
            <a:endParaRPr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（3）训练通用引导，放在公共文本前，</a:t>
            </a:r>
            <a:endParaRPr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促使私有信息经公共缓存被后续请求恢复。</a:t>
            </a:r>
            <a:endParaRPr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/>
            </a:r>
            <a:endParaRPr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三种方法均使用模型权重，属于白盒研究。</a:t>
            </a:r>
            <a:endParaRPr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70185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4FCBB7-19E5-486C-99E5-010367F4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三种方法总览</a:t>
            </a:r>
            <a:endParaRPr sz="330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25740FE-E665-4476-82EB-046A1DC2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2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" name="表格 2">
            <a:extLst xmlns:a="http://schemas.openxmlformats.org/drawingml/2006/main">
              <a:ext uri="{FF2B5EF4-FFF2-40B4-BE49-F238E27FC236}">
                <a16:creationId xmlns:a16="http://schemas.microsoft.com/office/drawing/2014/main" id="{BE32B728-F3C7-48F3-9709-637353ECCD4C}"/>
              </a:ext>
            </a:extLst>
          </p:cNvPr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286125"/>
                <a:gridCol w="2667000"/>
                <a:gridCol w="2876550"/>
              </a:tblGrid>
              <a:tr h="590550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攻击者可用信息／控制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优化对象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核心问题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</a:tr>
              <a:tr h="11684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一｜逐token KV重建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公共KV可读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冻结模型可用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每条记录的软前缀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公共KV本身能支持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多少隐私恢复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684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二｜Key差分加权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与位置更新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观测公共KV可读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公共文本、模型与问题已知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每条记录的软前缀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按位置缩放更新幅度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重点重构与位置更新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能否增强恢复？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684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三｜通用引导学习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离线使用合成训练记录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部署目标：只控制引导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跨患者共享的引导U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当前为软提示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不直接读取目标KV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能否仍恢复私有字段？</a:t>
                      </a:r>
                      <a:endParaRPr sz="1800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4A7682BA-56C7-4C75-8EB6-7DA30DEE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三种方法对应不同能力与数据设置，结果分别报告，不直接按总分排名</a:t>
            </a:r>
            <a:endParaRPr sz="18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32572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235478-5079-4B32-903F-86F54C7F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方法一｜逐token KV重建的威胁模型</a:t>
            </a:r>
            <a:endParaRPr sz="330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951FAD1-8ABE-49BA-BDF9-F8783A85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2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5B38A4AD-911F-493C-B48A-48D89EEB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公共缓存可读，私有记录不可读</a:t>
            </a:r>
            <a:endParaRPr sz="22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9C00A095-2728-4FE2-AE51-7CAF6C78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764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攻击者具备</a:t>
            </a:r>
            <a:endParaRPr sz="22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BDBA0CC2-D95C-4DF7-AA92-68C7505D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5029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公共文本及其观测KV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冻结模型与目标问题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原私有前缀长度、位置偏移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body-5">
            <a:extLst xmlns:a="http://schemas.openxmlformats.org/drawingml/2006/main">
              <a:ext uri="{FF2B5EF4-FFF2-40B4-BE49-F238E27FC236}">
                <a16:creationId xmlns:a16="http://schemas.microsoft.com/office/drawing/2014/main" id="{D593FBEA-64E6-4C23-A5B4-D37D0882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764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86A2B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B86A2B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B86A2B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B86A2B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B86A2B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B86A2B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B86A2B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B86A2B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B86A2B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B86A2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B86A2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86A2B"/>
                </a:solidFill>
                <a:latin typeface="微软雅黑"/>
                <a:ea typeface="微软雅黑"/>
                <a:cs typeface="微软雅黑"/>
              </a:rPr>
              <a:t>攻击者不具备</a:t>
            </a:r>
            <a:endParaRPr sz="2250" b="1">
              <a:solidFill>
                <a:srgbClr val="B86A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body-6">
            <a:extLst xmlns:a="http://schemas.openxmlformats.org/drawingml/2006/main">
              <a:ext uri="{FF2B5EF4-FFF2-40B4-BE49-F238E27FC236}">
                <a16:creationId xmlns:a16="http://schemas.microsoft.com/office/drawing/2014/main" id="{A00C5031-76E1-4AEA-971C-317B3573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5029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私有记录原文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私有位置的KV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训练时的目标答案标签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body-7">
            <a:extLst xmlns:a="http://schemas.openxmlformats.org/drawingml/2006/main">
              <a:ext uri="{FF2B5EF4-FFF2-40B4-BE49-F238E27FC236}">
                <a16:creationId xmlns:a16="http://schemas.microsoft.com/office/drawing/2014/main" id="{B2AFEADA-5116-47E2-9AF4-64E63159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目标：用一段替代前缀，重建观测到的公共KV，再尝试恢复字段</a:t>
            </a:r>
            <a:endParaRPr sz="225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175290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09F8AF-24CA-4631-89F8-5689C0D5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方法一｜方案设计</a:t>
            </a:r>
            <a:endParaRPr sz="330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920A5BF-D38D-4B04-BADA-63368E43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2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9F912C13-C32C-4856-88DE-52F5C3B9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让替代前缀产生的公共KV接近观测缓存</a:t>
            </a:r>
            <a:endParaRPr sz="22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0BB53F3E-AFDE-4215-B2AF-33D31705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76475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28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F03A4BD6-1F5E-4DB3-A310-A5A02747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76475"/>
            <a:ext cx="982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为每条记录初始化一段软前缀，接上同一份公共文本</a:t>
            </a:r>
            <a:endParaRPr sz="2100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A6086229-8A5A-4BA4-8F3E-99D81589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43275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28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body-6">
            <a:extLst xmlns:a="http://schemas.openxmlformats.org/drawingml/2006/main">
              <a:ext uri="{FF2B5EF4-FFF2-40B4-BE49-F238E27FC236}">
                <a16:creationId xmlns:a16="http://schemas.microsoft.com/office/drawing/2014/main" id="{B47872BD-1CA5-4596-9F52-1C505E32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43275"/>
            <a:ext cx="982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逐位置匹配公共文本的Key和Value，各位置按相同规则计入损失</a:t>
            </a:r>
            <a:endParaRPr sz="2100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step-3">
            <a:extLst xmlns:a="http://schemas.openxmlformats.org/drawingml/2006/main">
              <a:ext uri="{FF2B5EF4-FFF2-40B4-BE49-F238E27FC236}">
                <a16:creationId xmlns:a16="http://schemas.microsoft.com/office/drawing/2014/main" id="{3F7182CB-E50D-4989-A14E-41D9509B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0075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28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body-8">
            <a:extLst xmlns:a="http://schemas.openxmlformats.org/drawingml/2006/main">
              <a:ext uri="{FF2B5EF4-FFF2-40B4-BE49-F238E27FC236}">
                <a16:creationId xmlns:a16="http://schemas.microsoft.com/office/drawing/2014/main" id="{38B06007-B398-4CA8-94D5-526F6F9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0075"/>
            <a:ext cx="982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只更新软前缀；训练后用目标问题检验恢复结果</a:t>
            </a:r>
            <a:endParaRPr sz="2100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body-9">
            <a:extLst xmlns:a="http://schemas.openxmlformats.org/drawingml/2006/main">
              <a:ext uri="{FF2B5EF4-FFF2-40B4-BE49-F238E27FC236}">
                <a16:creationId xmlns:a16="http://schemas.microsoft.com/office/drawing/2014/main" id="{DB9E145F-C729-4996-9C11-7FE16B9D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578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5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L₁ ＝ 公共KV的逐token均方误差</a:t>
            </a:r>
            <a:endParaRPr sz="25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565500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8B2E71-D101-4047-9BF7-2B085B5A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方法一｜实验结果</a:t>
            </a:r>
            <a:endParaRPr sz="330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4FD58A1-E601-485A-87B4-8E9488C7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12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A0611C91-2337-4885-B147-CE323142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4777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实验设置：四种隐私场景：医疗，企业人事，个人身份信息，银行转账记录。每个场景</a:t>
            </a:r>
            <a:r>
              <a: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200</a:t>
            </a:r>
            <a:r>
              <a: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个样本合计</a:t>
            </a:r>
            <a:r>
              <a: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800</a:t>
            </a:r>
            <a:r>
              <a: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个</a:t>
            </a:r>
            <a:r>
              <a: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样本</a:t>
            </a:r>
            <a:endParaRPr sz="18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16645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EF37E1-F1B9-4ABE-AFEB-474F59EA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方法二｜Key差分加权与位置更新</a:t>
            </a:r>
            <a:endParaRPr sz="330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0850F6A-9466-48D3-86B0-C6630354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8</a:t>
            </a:r>
            <a:endParaRPr sz="12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745FBC4C-BBB8-40B4-84D1-EA8FD518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公共KV可读，用问题和纯净缓存确定重构重点</a:t>
            </a:r>
            <a:endParaRPr sz="22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51CE776A-D7B0-4FBA-A773-3E846E13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764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沿用基线能力</a:t>
            </a:r>
            <a:endParaRPr sz="22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8A2E1391-661F-4CED-AD3D-10257607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52959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读取受到私有上下文影响的公共KV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已知公共文本、冻结模型与问题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已知原前缀长度和RoPE位置偏移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body-5">
            <a:extLst xmlns:a="http://schemas.openxmlformats.org/drawingml/2006/main">
              <a:ext uri="{FF2B5EF4-FFF2-40B4-BE49-F238E27FC236}">
                <a16:creationId xmlns:a16="http://schemas.microsoft.com/office/drawing/2014/main" id="{03242546-D701-478E-862F-2FB833EC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764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构建纯净参照</a:t>
            </a:r>
            <a:endParaRPr sz="22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body-6">
            <a:extLst xmlns:a="http://schemas.openxmlformats.org/drawingml/2006/main">
              <a:ext uri="{FF2B5EF4-FFF2-40B4-BE49-F238E27FC236}">
                <a16:creationId xmlns:a16="http://schemas.microsoft.com/office/drawing/2014/main" id="{9F5463CF-2CD9-42CB-B0AE-ECEAFF8C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50863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仅处理公共文本，得到纯净公共KV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与观测缓存保持相同RoPE位置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私有原文、私有KV和答案均不可读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body-7">
            <a:extLst xmlns:a="http://schemas.openxmlformats.org/drawingml/2006/main">
              <a:ext uri="{FF2B5EF4-FFF2-40B4-BE49-F238E27FC236}">
                <a16:creationId xmlns:a16="http://schemas.microsoft.com/office/drawing/2014/main" id="{3DC5DEF9-F6A5-462F-8DE3-49211186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75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关注与问题相关的上下文变化；不预设高权重位置必然含有答案</a:t>
            </a:r>
            <a:endParaRPr sz="225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body-8">
            <a:extLst xmlns:a="http://schemas.openxmlformats.org/drawingml/2006/main">
              <a:ext uri="{FF2B5EF4-FFF2-40B4-BE49-F238E27FC236}">
                <a16:creationId xmlns:a16="http://schemas.microsoft.com/office/drawing/2014/main" id="{334DB9CE-6235-488A-A0B8-804E3446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483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5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5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5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5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5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5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5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5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5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15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question_weighted_kv_contrastive_key_attention</a:t>
            </a:r>
          </a:p>
        </p:txBody>
      </p:sp>
    </p:spTree>
    <p:extLst>
      <p:ext uri="{BB962C8B-B14F-4D97-AF65-F5344CB8AC3E}">
        <p14:creationId xmlns:p14="http://schemas.microsoft.com/office/powerpoint/2010/main" val="1565724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568470-50D1-4F93-AD93-E5235B56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方法二｜方案设计</a:t>
            </a:r>
            <a:endParaRPr sz="330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728294E-9B54-47F7-9B2D-CE0864C2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9</a:t>
            </a:r>
            <a:endParaRPr sz="12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CD8FFBB2-5053-4CBC-80C9-503DCF83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问题决定重构重点，注意力决定前缀位置的更新幅度</a:t>
            </a:r>
            <a:endParaRPr sz="22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EBD1DD11-70FD-4F2E-8277-A773D9E6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28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8461A5C5-1A64-4CF5-9BF8-11675CD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71700"/>
            <a:ext cx="982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比较观测与纯净公共Key，用问题Query给差分评分；保留0.1保底权重</a:t>
            </a:r>
            <a:endParaRPr sz="2100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CDBC6E5D-B14C-47B3-BF2B-E8B274C5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28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body-6">
            <a:extLst xmlns:a="http://schemas.openxmlformats.org/drawingml/2006/main">
              <a:ext uri="{FF2B5EF4-FFF2-40B4-BE49-F238E27FC236}">
                <a16:creationId xmlns:a16="http://schemas.microsoft.com/office/drawing/2014/main" id="{34858E39-3920-4307-A76D-B7374116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982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只用加权公共KV重构误差训练每条记录的软前缀，冻结模型</a:t>
            </a:r>
            <a:endParaRPr sz="2100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step-3">
            <a:extLst xmlns:a="http://schemas.openxmlformats.org/drawingml/2006/main">
              <a:ext uri="{FF2B5EF4-FFF2-40B4-BE49-F238E27FC236}">
                <a16:creationId xmlns:a16="http://schemas.microsoft.com/office/drawing/2014/main" id="{EFBE7762-9426-43F2-BBF0-0AAE62BF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28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body-8">
            <a:extLst xmlns:a="http://schemas.openxmlformats.org/drawingml/2006/main">
              <a:ext uri="{FF2B5EF4-FFF2-40B4-BE49-F238E27FC236}">
                <a16:creationId xmlns:a16="http://schemas.microsoft.com/office/drawing/2014/main" id="{6D2F4743-8991-48FB-A08E-A3DC2797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982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综合公共位置权重、重构误差和对前缀的注意力，缩放Adam更新位移</a:t>
            </a:r>
            <a:endParaRPr sz="2100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body-9">
            <a:extLst xmlns:a="http://schemas.openxmlformats.org/drawingml/2006/main">
              <a:ext uri="{FF2B5EF4-FFF2-40B4-BE49-F238E27FC236}">
                <a16:creationId xmlns:a16="http://schemas.microsoft.com/office/drawing/2014/main" id="{60D699E1-4083-46FE-9D0D-61599C27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86375"/>
            <a:ext cx="10096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40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L₂ ＝ 问题加权的公共KV均方误差</a:t>
            </a:r>
            <a:endParaRPr sz="240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body-10">
            <a:extLst xmlns:a="http://schemas.openxmlformats.org/drawingml/2006/main">
              <a:ext uri="{FF2B5EF4-FFF2-40B4-BE49-F238E27FC236}">
                <a16:creationId xmlns:a16="http://schemas.microsoft.com/office/drawing/2014/main" id="{F27CC9EA-8556-4EDD-8931-7E0D3060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注意力只调节更新幅度；前400步普通更新，之后强度0.75，EMA＝0</a:t>
            </a:r>
            <a:endParaRPr sz="1800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838120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940391-7644-41C3-BCAF-2D235789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方法二｜实验结果</a:t>
            </a:r>
            <a:endParaRPr sz="330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588E037-4DCE-4F25-898E-4FD0139B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2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A565456B-3081-4B92-B013-6ADA67D3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4777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恢复分 · 完全匹配 EM · 语义相似度 CS</a:t>
            </a:r>
            <a:endParaRPr sz="18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91005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5548F9-A1E8-4975-81C2-3EB585A1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方法三｜通用引导学习的威胁模型</a:t>
            </a:r>
            <a:endParaRPr sz="330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88C67B-49DE-481C-A0AE-986DA3CE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12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1C155F30-A22B-4E32-B75B-E4F4F89C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目标：把控制点从“读取目标缓存”移到“影响公共文本”</a:t>
            </a:r>
            <a:endParaRPr sz="22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72BC8385-E3A8-4093-B01A-7171DF32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955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离线训练</a:t>
            </a:r>
            <a:endParaRPr sz="22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94C96A2B-0E14-4BAA-9781-8766C4B8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5105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使用自己可控的合成病例和答案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可计算冻结模型对引导的梯度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学习跨患者共享的通用引导U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body-5">
            <a:extLst xmlns:a="http://schemas.openxmlformats.org/drawingml/2006/main">
              <a:ext uri="{FF2B5EF4-FFF2-40B4-BE49-F238E27FC236}">
                <a16:creationId xmlns:a16="http://schemas.microsoft.com/office/drawing/2014/main" id="{0F3D769C-2722-4D3B-BB94-B731BC6A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955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目标部署</a:t>
            </a:r>
            <a:endParaRPr sz="22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body-6">
            <a:extLst xmlns:a="http://schemas.openxmlformats.org/drawingml/2006/main">
              <a:ext uri="{FF2B5EF4-FFF2-40B4-BE49-F238E27FC236}">
                <a16:creationId xmlns:a16="http://schemas.microsoft.com/office/drawing/2014/main" id="{86C3610D-0525-4F5A-8C34-351C94FD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5105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让受害请求读取公共文本前的U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通过正常请求触发非前缀复用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不直接读取私有记录或目标KV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body-7">
            <a:extLst xmlns:a="http://schemas.openxmlformats.org/drawingml/2006/main">
              <a:ext uri="{FF2B5EF4-FFF2-40B4-BE49-F238E27FC236}">
                <a16:creationId xmlns:a16="http://schemas.microsoft.com/office/drawing/2014/main" id="{FAF8E03D-B0CA-45DC-B3FC-EE726A51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10877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当前原型：共享软提示＋受控缓存复用；文本化与真实服务接入待验证</a:t>
            </a:r>
            <a:endParaRPr sz="2100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261241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408878-B744-481C-A0DE-62408434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方法三｜方案设计</a:t>
            </a:r>
            <a:endParaRPr sz="330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87CF45C-59BB-4C38-9044-55CCD03D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12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329FF3C9-A49E-40A7-95A6-64F0E555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学习一份通用U，让公共缓存支持私有字段问答</a:t>
            </a:r>
            <a:endParaRPr sz="22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D4A4EDEC-1FF7-46B5-A2B1-ACA16BFA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28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90495AAC-2FAE-4AB9-B9F5-FF9696C6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47900"/>
            <a:ext cx="982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对训练病例处理 P＋U＋C，回答时只保留C位置的KV</a:t>
            </a:r>
            <a:endParaRPr sz="2100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FB4CFDB9-B854-45EF-93BE-BDEC9B6A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28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body-6">
            <a:extLst xmlns:a="http://schemas.openxmlformats.org/drawingml/2006/main">
              <a:ext uri="{FF2B5EF4-FFF2-40B4-BE49-F238E27FC236}">
                <a16:creationId xmlns:a16="http://schemas.microsoft.com/office/drawing/2014/main" id="{F75538BE-17B2-468A-987A-0D034AE6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76600"/>
            <a:ext cx="982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仅靠保留的公共缓存，回答姓名、生日、地址与诊断问题</a:t>
            </a:r>
            <a:endParaRPr sz="2100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step-3">
            <a:extLst xmlns:a="http://schemas.openxmlformats.org/drawingml/2006/main">
              <a:ext uri="{FF2B5EF4-FFF2-40B4-BE49-F238E27FC236}">
                <a16:creationId xmlns:a16="http://schemas.microsoft.com/office/drawing/2014/main" id="{E763612F-D9C4-4597-9B75-4F5D91CF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28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body-8">
            <a:extLst xmlns:a="http://schemas.openxmlformats.org/drawingml/2006/main">
              <a:ext uri="{FF2B5EF4-FFF2-40B4-BE49-F238E27FC236}">
                <a16:creationId xmlns:a16="http://schemas.microsoft.com/office/drawing/2014/main" id="{ED28651D-3F31-4C9E-8AA3-D257F911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05300"/>
            <a:ext cx="982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用训练答案的交叉熵更新同一份U，再迁移到独立测试患者</a:t>
            </a:r>
            <a:endParaRPr sz="2100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body-9">
            <a:extLst xmlns:a="http://schemas.openxmlformats.org/drawingml/2006/main">
              <a:ext uri="{FF2B5EF4-FFF2-40B4-BE49-F238E27FC236}">
                <a16:creationId xmlns:a16="http://schemas.microsoft.com/office/drawing/2014/main" id="{91692953-490C-47E2-8EF0-B2602F7C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1972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3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3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3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3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3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3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3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3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3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3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L₃ ＝ 姓名、生日、地址、诊断四组答案CE的平均</a:t>
            </a:r>
            <a:endParaRPr sz="2325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body-10">
            <a:extLst xmlns:a="http://schemas.openxmlformats.org/drawingml/2006/main">
              <a:ext uri="{FF2B5EF4-FFF2-40B4-BE49-F238E27FC236}">
                <a16:creationId xmlns:a16="http://schemas.microsoft.com/office/drawing/2014/main" id="{176ED43E-44D1-46A4-8542-0024EFA2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198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当前版本关闭负样本损失；测试患者不参与U的优化</a:t>
            </a:r>
            <a:endParaRPr sz="1800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381071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98C603-B0DE-4030-896A-8F70D918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方法三｜当前实验设置</a:t>
            </a:r>
            <a:endParaRPr sz="330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89A8CA7-EE70-43FE-8071-3B68698E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13</a:t>
            </a:r>
            <a:endParaRPr sz="12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" name="表格 2">
            <a:extLst xmlns:a="http://schemas.openxmlformats.org/drawingml/2006/main">
              <a:ext uri="{FF2B5EF4-FFF2-40B4-BE49-F238E27FC236}">
                <a16:creationId xmlns:a16="http://schemas.microsoft.com/office/drawing/2014/main" id="{0919906F-A80A-4049-96AF-DBB92EDCACAC}"/>
              </a:ext>
            </a:extLst>
          </p:cNvPr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782050"/>
              </a:tblGrid>
              <a:tr h="552450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</a:tr>
              <a:tr h="8858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数据与划分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Synthea合成病例：开发128／训练1000／验证200／测试1000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隐私字段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自然姓名、出生日期、家庭地址、诊断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问答与损失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姓名三问＋生日三问＋地址＋诊断；四组等权CE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训练与测试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Qwen3-4B；U长度32；100轮无早停；负样本关闭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补充测试：诊断训练已见记录占比10%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21855E24-8E0B-449A-B4B3-6F080F9C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CSV保存8次实际回答，以及完整姓名、完整生日的拼接评分</a:t>
            </a:r>
            <a:endParaRPr sz="18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004325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164E52-B26B-4A73-9C4C-49A4D0FC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方法三｜实验结果</a:t>
            </a:r>
            <a:endParaRPr sz="330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7BE101C-AD42-4E25-9616-78D3FD88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14</a:t>
            </a:r>
            <a:endParaRPr sz="12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0A111409-AABF-4586-875B-0BBC44D1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4777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姓名 · 出生日期 · 地址 · 诊断：四字段EM与分项恢复结果</a:t>
            </a:r>
            <a:endParaRPr sz="18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122195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A5A09C-0A9D-4FE4-B216-61E7875B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目前研究进展</a:t>
            </a:r>
            <a:endParaRPr sz="330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1B3D08C-7A6B-4442-9BDB-5E8E3E6D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15</a:t>
            </a:r>
            <a:endParaRPr sz="12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" name="表格 2">
            <a:extLst xmlns:a="http://schemas.openxmlformats.org/drawingml/2006/main">
              <a:ext uri="{FF2B5EF4-FFF2-40B4-BE49-F238E27FC236}">
                <a16:creationId xmlns:a16="http://schemas.microsoft.com/office/drawing/2014/main" id="{BBB47AF8-C2E1-4CCF-A24E-577A2AD72177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333875"/>
                <a:gridCol w="4305300"/>
              </a:tblGrid>
              <a:tr h="590550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已形成的研究内容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下一步验证</a:t>
                      </a:r>
                      <a:endParaRPr sz="17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</a:tr>
              <a:tr h="11493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一｜基线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800条来源记录、4类场景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逐token KV重建与独立评分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跨字段的恢复表现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不同优化预算下的稳定性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93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二｜Key差分加权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与位置更新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问题引导的公共Key差分权重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注意力引导的软前缀位置更新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加权重构的恢复收益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位置更新机制的独立贡献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93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三｜通用引导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共享U；独立患者划分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姓名／生日拆问；无负样本配置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独立患者上的精确恢复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离散文本与真实复用效果</a:t>
                      </a:r>
                      <a:endParaRPr sz="1875" b="0">
                        <a:solidFill>
                          <a:srgbClr val="132B3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9133066A-6750-4DEF-90E0-6646B2A4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0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0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0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0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0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0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0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0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0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0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统一主线：从“缓存里能恢复什么”推进到“哪些能力足以触发泄露”</a:t>
            </a:r>
            <a:endParaRPr sz="2025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217361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DEF337-2EA2-47E3-A24B-4E6D4EB4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研究边界与后续验证</a:t>
            </a:r>
            <a:endParaRPr sz="330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1113FDA-6AFC-4F4A-BC94-F7FF014B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36773"/>
                </a:solidFill>
                <a:latin typeface="微软雅黑"/>
                <a:ea typeface="微软雅黑"/>
                <a:cs typeface="微软雅黑"/>
              </a:rPr>
              <a:t>16</a:t>
            </a:r>
            <a:endParaRPr sz="1275" b="0">
              <a:solidFill>
                <a:srgbClr val="5367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16906109-FBD3-4993-9BE0-DDDCCC29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用三种方法逐步收紧攻击者能力假设</a:t>
            </a:r>
            <a:endParaRPr sz="22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6B1DB99F-16B5-4AA9-9497-7511EE98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2724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缓存可读时</a:t>
            </a:r>
            <a:endParaRPr sz="22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1A6C4941-DD4C-425D-A14A-FEFE8178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05050"/>
            <a:ext cx="78676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检验逐token重建、Key差分加权与位置更新的私有字段恢复能力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body-5">
            <a:extLst xmlns:a="http://schemas.openxmlformats.org/drawingml/2006/main">
              <a:ext uri="{FF2B5EF4-FFF2-40B4-BE49-F238E27FC236}">
                <a16:creationId xmlns:a16="http://schemas.microsoft.com/office/drawing/2014/main" id="{997FB2EB-8A82-47D1-9251-D1AAA582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95675"/>
            <a:ext cx="2724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只控制文本时</a:t>
            </a:r>
            <a:endParaRPr sz="22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body-6">
            <a:extLst xmlns:a="http://schemas.openxmlformats.org/drawingml/2006/main">
              <a:ext uri="{FF2B5EF4-FFF2-40B4-BE49-F238E27FC236}">
                <a16:creationId xmlns:a16="http://schemas.microsoft.com/office/drawing/2014/main" id="{F6752E2B-2027-458D-849D-83D35EAB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95675"/>
            <a:ext cx="78676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将共享软提示推进为离散文本，并接入真实非前缀复用服务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body-7">
            <a:extLst xmlns:a="http://schemas.openxmlformats.org/drawingml/2006/main">
              <a:ext uri="{FF2B5EF4-FFF2-40B4-BE49-F238E27FC236}">
                <a16:creationId xmlns:a16="http://schemas.microsoft.com/office/drawing/2014/main" id="{F150E4F9-4F97-49EB-A495-03A4C320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2724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67E7A"/>
                </a:solidFill>
                <a:latin typeface="微软雅黑"/>
                <a:ea typeface="微软雅黑"/>
                <a:cs typeface="微软雅黑"/>
              </a:rPr>
              <a:t>复用条件改变时</a:t>
            </a:r>
            <a:endParaRPr sz="2250" b="1">
              <a:solidFill>
                <a:srgbClr val="167E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body-8">
            <a:extLst xmlns:a="http://schemas.openxmlformats.org/drawingml/2006/main">
              <a:ext uri="{FF2B5EF4-FFF2-40B4-BE49-F238E27FC236}">
                <a16:creationId xmlns:a16="http://schemas.microsoft.com/office/drawing/2014/main" id="{25D28755-55F4-4091-82B5-E80125A2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86300"/>
            <a:ext cx="78676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检验缓存隔离、命中范围和重新计算，是否阻断信息恢复</a:t>
            </a:r>
            <a:endParaRPr sz="2175" b="0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body-9">
            <a:extLst xmlns:a="http://schemas.openxmlformats.org/drawingml/2006/main">
              <a:ext uri="{FF2B5EF4-FFF2-40B4-BE49-F238E27FC236}">
                <a16:creationId xmlns:a16="http://schemas.microsoft.com/office/drawing/2014/main" id="{3F2D0A17-B7EB-4905-BFF2-63358DF7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32B3A"/>
                </a:solidFill>
                <a:latin typeface="微软雅黑"/>
                <a:ea typeface="微软雅黑"/>
                <a:cs typeface="微软雅黑"/>
              </a:rPr>
              <a:t>最终回答：在什么访问权限和复用条件下，公共缓存会越过隐私边界？</a:t>
            </a:r>
            <a:endParaRPr sz="2100" b="1">
              <a:solidFill>
                <a:srgbClr val="132B3A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89807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2026-10-18T11:42:55.0150000Z</dcterms:created>
  <dcterms:modified xsi:type="dcterms:W3CDTF">2026-10-18T11:42:55.0150000Z</dcterms:modified>
</coreProperties>
</file>
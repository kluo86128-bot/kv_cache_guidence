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60" r:id="rId6"/>
    <p:sldId id="261" r:id="rId7"/>
    <p:sldId id="259" r:id="rId8"/>
    <p:sldId id="262" r:id="rId9"/>
    <p:sldId id="263" r:id="rId10"/>
    <p:sldId id="265" r:id="rId11"/>
    <p:sldId id="273" r:id="rId12"/>
    <p:sldId id="266" r:id="rId13"/>
    <p:sldId id="267" r:id="rId14"/>
    <p:sldId id="268" r:id="rId15"/>
    <p:sldId id="269" r:id="rId16"/>
    <p:sldId id="270" r:id="rId17"/>
  </p:sldIdLst>
  <p:sldSz cx="12192000" cy="6858000"/>
  <p:notesSz cx="6858000" cy="9144000"/>
  <p:custDataLst>
    <p:tags r:id="rId21"/>
  </p:custDataLst>
  <p:defaultTextStyle>
    <a:lvl1pPr marL="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1pPr>
    <a:lvl2pPr marL="457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2pPr>
    <a:lvl3pPr marL="914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3pPr>
    <a:lvl4pPr marL="1371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4pPr>
    <a:lvl5pPr marL="18288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5pPr>
    <a:lvl6pPr marL="22860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6pPr>
    <a:lvl7pPr marL="27432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7pPr>
    <a:lvl8pPr marL="32004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8pPr>
    <a:lvl9pPr marL="3657600" algn="l" defTabSz="914400">
      <a:buNone/>
      <a:defRPr sz="1800" kern="1200">
        <a:solidFill>
          <a:schemeClr val="tx1"/>
        </a:solidFill>
        <a:latin typeface="+mn-lt"/>
        <a:ea typeface="+mn-lt"/>
        <a:cs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tags" Target="tags/tag4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研究进展汇报，2026-10-18。三种方法的实验结果由研究者另行补充，本稿不包含性能数值。</a:t>
            </a:r>
          </a:p>
          <a:p>
            <a:r>
              <a:t>Sources: D:/Stepby/kv-cache研究/kv_agent/kv_priv/README.md; D:/Stepby/kv-cache研究/kv_agent/kv_priv/威胁模型.md;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  <a:p>
            <a:r>
              <a:t>Image: built-in image_gen conceptual illustration; not a photograph or system screenshot.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研究按公共缓存访问能力与公共文本控制能力划分。方法一/二可读取公共KV，方法二同时干预发送端公共输入。方法三目标仅控制引导文本，当前仍为软提示与受控复用原型。</a:t>
            </a:r>
          </a:p>
          <a:p>
            <a:r>
              <a:t>完整方案二：字段引导文本增强公共KV编码＋问题引导的差分加权重构＋注意力引导的软前缀位置更新。方法标识question_weighted_kv_contrastive_key_attention。S为私有记录，G为固定公共字段引导，P₀为原公共正文，P=G∥P₀。G依据允许的结构与定位知识构造，不包含目标答案；该知识属于额外先验，不能宣称只依赖公开问题。发送端处理S+G+P₀，仅导出G与P₀对应位置KV。相同位置偏移的纯净参照仅处理G+P₀。接收端处理Uθ+G+P₀，Uθ替代未知私有前文。训练只更新每条记录独立的Uθ，G与模型权重固定。</a:t>
            </a:r>
          </a:p>
          <a:p>
            <a:r>
              <a:t>引导是否实际使用取决于训练保存的缓存包。新版引导必须重新prepare，不能仅修改源文本后复用旧缓存或直接resume旧训练。800_guided_v3_zh_4gpu.json指向receiver_cache_800_guided_v3_zh。experiment_1.json当前仍指向receiver_cache_800；同一算法名不能证明缓存已含新版G。baseline_token_4gpu的缓存是否含引导，必须检查该次训练保存的缓存包，不能根据现在的源文本推断。</a:t>
            </a:r>
          </a:p>
          <a:p>
            <a:r>
              <a:t>Sources: D:/Stepby/kv-cache研究/kv_agent/kv_priv/trusted/samples_800/README.md; D:/Stepby/kv-cache研究/kv_agent/kv_priv/configs/800_guided_v3_zh_4gpu.json; D:/Stepby/kv-cache研究/kv_agent/kv_priv/configs/experiment_1.json; D:/Stepby/kv-cache研究/kv_agent/kv_priv/experiment/objectives.py; D:/Stepby/kv-cache研究/kv_agent/kv_priv/experiment/prefix_importance.py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方法一逐token KV重建的威胁模型图。原图由用户提供，保持比例、完整画面和原始内容。</a:t>
            </a:r>
          </a:p>
          <a:p>
            <a:r>
              <a:t>Image source: D:\Stepby\kv-cache研究\medical_privacy_prompt\presentations\nonprefix_privacy_progress_20261018\ChatGPT 图像 2026年10月18日 21_26_20-1.png</a:t>
            </a:r>
          </a:p>
          <a:p>
            <a:r>
              <a:t>接收端只读取receiver_cache、冻结模型和训练状态；训练不读取私有原文、真实私有KV或目标答案。已知原私有前缀长度及位置偏移。真实私有记录和答案只在可信prepare/evaluate阶段使用。</a:t>
            </a:r>
          </a:p>
          <a:p>
            <a:r>
              <a:t>Sources: D:/Stepby/kv-cache研究/kv_agent/kv_priv/README.md; D:/Stepby/kv-cache研究/kv_agent/kv_priv/威胁模型.md; D:/Stepby/kv-cache研究/kv_agent/kv_priv/configs/baseline_token.json; D:/Stepby/kv-cache研究/kv_agent/kv_priv/experiment/backend.py (kv_losses); experiment/objectives.py (Objective.compute)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方法一逐token KV重建的方案设计图。原图由用户提供，保持比例、完整画面和原始内容。</a:t>
            </a:r>
          </a:p>
          <a:p>
            <a:r>
              <a:t>Image source: D:\Stepby\kv-cache研究\medical_privacy_prompt\presentations\nonprefix_privacy_progress_20261018\ChatGPT 图像 2026年10月18日 21_26_21-2.png</a:t>
            </a:r>
          </a:p>
          <a:p>
            <a:r>
              <a:t>Objective.compute的baseline选用base_loss=token，kv_losses对每层K和V的对应位置做均方误差并取均值。按样本优化软前缀，模型冻结；目标字段只在可信评估端评分。</a:t>
            </a:r>
          </a:p>
          <a:p>
            <a:r>
              <a:t>Sources: D:/Stepby/kv-cache研究/kv_agent/kv_priv/configs/baseline_token.json; D:/Stepby/kv-cache研究/kv_agent/kv_priv/experiment/backend.py (kv_losses); experiment/objectives.py (Objective.compute)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案一和方案二共用800条多场景受控隐私记录。4个场景各200条，16类目标字段各50条，每条记录只针对一个目标字段。数据由公开合成数据与基准材料构建。按每条记录独立优化替代软前缀后评估，不采用跨记录共享提示学习的独立训练/测试划分。训练阶段不读取真实私有原文、私有KV或评分答案。</a:t>
            </a:r>
          </a:p>
          <a:p>
            <a:r>
              <a:t>Sources: D:/Stepby/kv-cache研究/kv_agent/kv_priv/trusted/samples_800/README.md; D:/Stepby/kv-cache研究/kv_agent/kv_priv/trusted/samples_800/tasks.jsonl; D:/Stepby/kv-cache研究/kv_agent/kv_priv/trusted/samples_800/sources.json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本页不包含实验性能数值。比较时需注明原始记录数、字段分布、优化预算和评估协议。</a:t>
            </a:r>
          </a:p>
          <a:p>
            <a:r>
              <a:t>Sources: D:/Stepby/kv-cache研究/kv_agent/kv_priv/configs/baseline_token.json; D:/Stepby/kv-cache研究/kv_agent/kv_priv/experiment/backend.py (kv_losses); experiment/objectives.py (Objective.compute)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方法二字段引导与公共缓存访问的威胁模型图。原图由用户提供，保持比例、完整画面和原始内容。</a:t>
            </a:r>
          </a:p>
          <a:p>
            <a:r>
              <a:t>Image source: D:\Stepby\kv-cache研究\medical_privacy_prompt\presentations\nonprefix_privacy_progress_20261018\ChatGPT 图像 2026年10月18日 21_26_23-3.png</a:t>
            </a:r>
          </a:p>
          <a:p>
            <a:r>
              <a:t>完整方案二：字段引导文本增强公共KV编码＋问题引导的差分加权重构＋注意力引导的软前缀位置更新。方法标识question_weighted_kv_contrastive_key_attention。S为私有记录，G为固定公共字段引导，P₀为原公共正文，P=G∥P₀。G依据允许的结构与定位知识构造，不包含目标答案；该知识属于额外先验，不能宣称只依赖公开问题。发送端处理S+G+P₀，仅导出G与P₀对应位置KV。相同位置偏移的纯净参照仅处理G+P₀。接收端处理Uθ+G+P₀，Uθ替代未知私有前文。训练只更新每条记录独立的Uθ，G与模型权重固定。</a:t>
            </a:r>
          </a:p>
          <a:p>
            <a:r>
              <a:t>每层公共位置ΔK=Kobs−Kclean；问题在观测公共KV和更早问题token条件下产生Query，以Q与ΔK的点积评分，温度1，softmax仅在公共位置归一化。问题token均匀平均，查询头聚合至KV头。w_j=0.1+0.9|P| ā_j。G与P₀采用同一差分权重规则，没有额外提高G位置的损失系数。L=Avg_{层、头、K/V}[Σ_j w_j MSE(KV^U_j,KVobs_j)/Σ_j w_j]，base_loss=none、lambda_base=0、lambda_weighted=1。注意力版位置更新综合公共权重×当前重构误差×公共位置对Uθ位置的注意力，给软前缀位置评分，缩放Adam实际更新位移；不添加注意力对齐损失。前400步普通更新，随后启用位置倍率，强度0.75，EMA衰减0。权重、位置评分和训练目标均不读取真实私有内容或答案。</a:t>
            </a:r>
          </a:p>
          <a:p>
            <a:r>
              <a:t>引导是否实际使用取决于训练保存的缓存包。新版引导必须重新prepare，不能仅修改源文本后复用旧缓存或直接resume旧训练。800_guided_v3_zh_4gpu.json指向receiver_cache_800_guided_v3_zh。experiment_1.json当前仍指向receiver_cache_800；同一算法名不能证明缓存已含新版G。baseline_token_4gpu的缓存是否含引导，必须检查该次训练保存的缓存包，不能根据现在的源文本推断。</a:t>
            </a:r>
          </a:p>
          <a:p>
            <a:r>
              <a:t>Sources: D:/Stepby/kv-cache研究/kv_agent/kv_priv/trusted/samples_800/README.md; D:/Stepby/kv-cache研究/kv_agent/kv_priv/configs/800_guided_v3_zh_4gpu.json; D:/Stepby/kv-cache研究/kv_agent/kv_priv/configs/experiment_1.json; D:/Stepby/kv-cache研究/kv_agent/kv_priv/experiment/objectives.py; D:/Stepby/kv-cache研究/kv_agent/kv_priv/experiment/prefix_importance.py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方法二字段引导、差分加权重构与注意力位置更新的方案设计图。原图由用户提供，保持比例、完整画面和原始内容。</a:t>
            </a:r>
          </a:p>
          <a:p>
            <a:r>
              <a:t>Image source: D:\Stepby\kv-cache研究\medical_privacy_prompt\presentations\nonprefix_privacy_progress_20261018\ChatGPT 图像 2026年10月18日 21_26_24-4.png</a:t>
            </a:r>
          </a:p>
          <a:p>
            <a:r>
              <a:t>完整方案二：字段引导文本增强公共KV编码＋问题引导的差分加权重构＋注意力引导的软前缀位置更新。方法标识question_weighted_kv_contrastive_key_attention。S为私有记录，G为固定公共字段引导，P₀为原公共正文，P=G∥P₀。G依据允许的结构与定位知识构造，不包含目标答案；该知识属于额外先验，不能宣称只依赖公开问题。发送端处理S+G+P₀，仅导出G与P₀对应位置KV。相同位置偏移的纯净参照仅处理G+P₀。接收端处理Uθ+G+P₀，Uθ替代未知私有前文。训练只更新每条记录独立的Uθ，G与模型权重固定。</a:t>
            </a:r>
          </a:p>
          <a:p>
            <a:r>
              <a:t>G的字段策略：语义字段要求完整复制，号码、邮箱、金额逐字符定位与重组，日期按年、月、日提取与重组。不是把真实答案填入G。</a:t>
            </a:r>
          </a:p>
          <a:p>
            <a:r>
              <a:t>每层公共位置ΔK=Kobs−Kclean；问题在观测公共KV和更早问题token条件下产生Query，以Q与ΔK的点积评分，温度1，softmax仅在公共位置归一化。问题token均匀平均，查询头聚合至KV头。w_j=0.1+0.9|P| ā_j。G与P₀采用同一差分权重规则，没有额外提高G位置的损失系数。L=Avg_{层、头、K/V}[Σ_j w_j MSE(KV^U_j,KVobs_j)/Σ_j w_j]，base_loss=none、lambda_base=0、lambda_weighted=1。注意力版位置更新综合公共权重×当前重构误差×公共位置对Uθ位置的注意力，给软前缀位置评分，缩放Adam实际更新位移；不添加注意力对齐损失。前400步普通更新，随后启用位置倍率，强度0.75，EMA衰减0。权重、位置评分和训练目标均不读取真实私有内容或答案。</a:t>
            </a:r>
          </a:p>
          <a:p>
            <a:r>
              <a:t>引导是否实际使用取决于训练保存的缓存包。新版引导必须重新prepare，不能仅修改源文本后复用旧缓存或直接resume旧训练。800_guided_v3_zh_4gpu.json指向receiver_cache_800_guided_v3_zh。experiment_1.json当前仍指向receiver_cache_800；同一算法名不能证明缓存已含新版G。baseline_token_4gpu的缓存是否含引导，必须检查该次训练保存的缓存包，不能根据现在的源文本推断。</a:t>
            </a:r>
          </a:p>
          <a:p>
            <a:r>
              <a:t>Sources: D:/Stepby/kv-cache研究/kv_agent/kv_priv/trusted/samples_800/README.md; D:/Stepby/kv-cache研究/kv_agent/kv_priv/configs/800_guided_v3_zh_4gpu.json; D:/Stepby/kv-cache研究/kv_agent/kv_priv/configs/experiment_1.json; D:/Stepby/kv-cache研究/kv_agent/kv_priv/experiment/objectives.py; D:/Stepby/kv-cache研究/kv_agent/kv_priv/experiment/prefix_importance.py</a:t>
            </a:r>
          </a:p>
          <a:p>
            <a:r>
              <a:t>图示口径说明：原图中w_priv=w_obs−w_ref与当前主方案不一致。当前主方案先计算ΔK=Kobs−Kclean，再用问题Query给ΔK打分，公共位置softmax后平均问题token、聚合KV头，再加入0.1保底权重。高权重代表与问题相关的上下文变化，不保证一定含有答案。原图按用户要求保留，未改写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案一和方案二共用800条多场景受控隐私记录。4个场景各200条，16类目标字段各50条，每条记录只针对一个目标字段。数据由公开合成数据与基准材料构建。按每条记录独立优化替代软前缀后评估，不采用跨记录共享提示学习的独立训练/测试划分。训练阶段不读取真实私有原文、私有KV或评分答案。</a:t>
            </a:r>
          </a:p>
          <a:p>
            <a:r>
              <a:t>Sources: D:/Stepby/kv-cache研究/kv_agent/kv_priv/trusted/samples_800/README.md; D:/Stepby/kv-cache研究/kv_agent/kv_priv/trusted/samples_800/tasks.jsonl; D:/Stepby/kv-cache研究/kv_agent/kv_priv/trusted/samples_800/sources.json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保留实验结果留白。报告结果时注明实际缓存输入、引导版本及prepare时间。不能把baseline_token_4gpu或旧缓存结果直接标作新版字段引导结果。比较时控制记录、模型、问题、前缀长度与优化预算，分别分析发送端引导、差分加权与位置更新的贡献。</a:t>
            </a:r>
          </a:p>
          <a:p>
            <a:r>
              <a:t>引导是否实际使用取决于训练保存的缓存包。新版引导必须重新prepare，不能仅修改源文本后复用旧缓存或直接resume旧训练。800_guided_v3_zh_4gpu.json指向receiver_cache_800_guided_v3_zh。experiment_1.json当前仍指向receiver_cache_800；同一算法名不能证明缓存已含新版G。baseline_token_4gpu的缓存是否含引导，必须检查该次训练保存的缓存包，不能根据现在的源文本推断。</a:t>
            </a:r>
          </a:p>
          <a:p>
            <a:r>
              <a:t>Sources: D:/Stepby/kv-cache研究/kv_agent/kv_priv/trusted/samples_800/README.md; D:/Stepby/kv-cache研究/kv_agent/kv_priv/configs/800_guided_v3_zh_4gpu.json; D:/Stepby/kv-cache研究/kv_agent/kv_priv/configs/experiment_1.json; D:/Stepby/kv-cache研究/kv_agent/kv_priv/experiment/objectives.py; D:/Stepby/kv-cache研究/kv_agent/kv_priv/experiment/prefix_importance.py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方法三通用引导学习的威胁模型图。原图由用户提供，保持比例、完整画面和原始内容。</a:t>
            </a:r>
          </a:p>
          <a:p>
            <a:r>
              <a:t>Image source: D:\Stepby\kv-cache研究\medical_privacy_prompt\presentations\nonprefix_privacy_progress_20261018\ChatGPT 图像 2026年10月18日 21_26_26-5.png</a:t>
            </a:r>
          </a:p>
          <a:p>
            <a:r>
              <a:t>此页区分离线训练与目标部署能力。离线训练可以使用本地冻结模型的梯度，以及独立合成训练患者和标签；攻击目标患者不参与引导优化。目标部署不直接读取或修改受害者KV，但要求受害者处理引导+公共文本，后续请求命中受到私有上下文影响的公共缓存。当前实现为软提示和显式缓存截取/复用，不是已经完成纯文本黑盒攻击。</a:t>
            </a:r>
          </a:p>
          <a:p>
            <a:r>
              <a:t>Sources: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方法三共享通用引导的训练与独立患者测试流程图。原图由用户提供，保持比例、完整画面和原始内容。</a:t>
            </a:r>
          </a:p>
          <a:p>
            <a:r>
              <a:t>Image source: D:\Stepby\kv-cache研究\medical_privacy_prompt\presentations\nonprefix_privacy_progress_20261018\ChatGPT 图像 2026年10月18日 21_26_27-6.png</a:t>
            </a:r>
          </a:p>
          <a:p>
            <a:r>
              <a:t>P为合成私有记录、U为共享的32个软提示向量、C为固定公共文本。编码P+U+C后只保留C位置KV，问答损失通过C的KV反传到U；模型权重冻结。U跨训练患者共享，不按每条测试记录重新拟合。当前主配置负例enabled=false。输出不是已完成的可粘贴文本。</a:t>
            </a:r>
          </a:p>
          <a:p>
            <a:r>
              <a:t>Sources: D:/Stepby/kv-cache研究/medical_privacy_prompt/medical_kv/backend.py; medical_kv/tasks.py; medical_kv/training.py; configs/experiment_v4_name_birth_parts_no_negatives.json; configs/evaluation_name_birth_parts_overlap10.json; data/dataset_v1/manifest.json; data/dataset_diagnosis_overlap10/manifest.json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方案三使用Synthea生成的2328位独立合成患者。开发128、训练1000、验证200、测试1000，合计2328；患者划分互不重叠。每条记录均包含姓名、出生日期、家庭地址和诊断。姓名仅去掉原组件末尾数字编号，其他原有英文内容保留，不翻译。地址保留原有门牌号和单元号。</a:t>
            </a:r>
          </a:p>
          <a:p>
            <a:r>
              <a:t>Sources: D:/Stepby/kv-cache研究/medical_privacy_prompt/data/dataset_v1/manifest.json; D:/Stepby/kv-cache研究/medical_privacy_prompt/data/dataset_v1/train.jsonl; D:/Stepby/kv-cache研究/medical_privacy_prompt/data/dataset_v1/validation.jsonl; D:/Stepby/kv-cache研究/medical_privacy_prompt/data/dataset_v1/test.jsonl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本页保留实验结果位置。对应数据为独立划分的合成患者记录，训练1000、验证200、测试1000；按姓名、出生日期、家庭地址和诊断报告恢复结果。</a:t>
            </a:r>
          </a:p>
          <a:p>
            <a:r>
              <a:t>Sources: D:/Stepby/kv-cache研究/medical_privacy_prompt/data/dataset_v1/manifest.json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Subtitle"/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/>
      <p:sp>
        <p:nvSpPr>
          <p:cNvPr id="2" name="Section title"/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Body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/>
      <p:sp>
        <p:nvSpPr>
          <p:cNvPr id="4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  <p:sp>
        <p:nvSpPr>
          <p:cNvPr id="3" name="Right column"/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/>
      <p:sp>
        <p:nvSpPr>
          <p:cNvPr id="3" name="Title"/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1pPr>
            <a:lvl2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2pPr>
            <a:lvl3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3pPr>
            <a:lvl4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4pPr>
            <a:lvl5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5pPr>
            <a:lvl6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6pPr>
            <a:lvl7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7pPr>
            <a:lvl8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8pPr>
            <a:lvl9pPr marL="0" indent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lvl9pPr>
          </a:lstStyle>
          <a:p/>
        </p:txBody>
      </p:sp>
      <p:sp>
        <p:nvSpPr>
          <p:cNvPr id="2" name="Left column"/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33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38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143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4478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7526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0574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3622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667000" indent="-228600" algn="l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7" Type="http://schemas.openxmlformats.org/officeDocument/2006/relationships/theme" Target="../theme/theme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6.xml"/><Relationship Id="rId1" Type="http://schemas.openxmlformats.org/officeDocument/2006/relationships/tags" Target="../tags/tag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6.xml"/><Relationship Id="rId1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ver-title"/>
          <p:cNvSpPr>
            <a:spLocks noGrp="1"/>
          </p:cNvSpPr>
          <p:nvPr/>
        </p:nvSpPr>
        <p:spPr>
          <a:xfrm>
            <a:off x="609600" y="1790700"/>
            <a:ext cx="6762750" cy="19812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35000"/>
              </a:lnSpc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非前缀缓存复用下的</a:t>
            </a:r>
            <a:endParaRPr sz="435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35000"/>
              </a:lnSpc>
              <a:buNone/>
              <a:def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435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隐私信息泄露边界</a:t>
            </a:r>
            <a:endParaRPr sz="435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body-2"/>
          <p:cNvSpPr>
            <a:spLocks noGrp="1"/>
          </p:cNvSpPr>
          <p:nvPr/>
        </p:nvSpPr>
        <p:spPr>
          <a:xfrm>
            <a:off x="647700" y="4210050"/>
            <a:ext cx="6096000" cy="5334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0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三种方法与研究进展</a:t>
            </a:r>
            <a:endParaRPr sz="2250" b="0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ody-3"/>
          <p:cNvSpPr>
            <a:spLocks noGrp="1"/>
          </p:cNvSpPr>
          <p:nvPr/>
        </p:nvSpPr>
        <p:spPr>
          <a:xfrm>
            <a:off x="647700" y="5886450"/>
            <a:ext cx="3429000" cy="3333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2026.10</a:t>
            </a:r>
            <a:endParaRPr sz="1650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研究场景与边界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" name="body-2"/>
          <p:cNvSpPr>
            <a:spLocks noGrp="1"/>
          </p:cNvSpPr>
          <p:nvPr/>
        </p:nvSpPr>
        <p:spPr>
          <a:xfrm>
            <a:off x="647700" y="5133975"/>
            <a:ext cx="10896600" cy="4762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175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研究对象：公共文本位置的上下文化KV，而非私有位置的KV</a:t>
            </a:r>
            <a:endParaRPr sz="2175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5" name="body-3"/>
          <p:cNvSpPr>
            <a:spLocks noGrp="1"/>
          </p:cNvSpPr>
          <p:nvPr/>
        </p:nvSpPr>
        <p:spPr>
          <a:xfrm>
            <a:off x="647700" y="5734050"/>
            <a:ext cx="10896600" cy="6381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成立前提：公共文本位于私有记录之后；目标缓存能被后续请求复用</a:t>
            </a:r>
            <a:endParaRPr sz="1800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22000"/>
              </a:lnSpc>
              <a:buNone/>
              <a:def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00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边界声明：合成数据与受控实验不等同于已证明生产系统存在漏洞</a:t>
            </a:r>
            <a:endParaRPr sz="1800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670" y="1340485"/>
            <a:ext cx="5883910" cy="3310255"/>
          </a:xfrm>
          <a:prstGeom prst="rect">
            <a:avLst/>
          </a:prstGeom>
        </p:spPr>
      </p:pic>
      <p:sp>
        <p:nvSpPr>
          <p:cNvPr id="9" name="文本框 8"/>
          <p:cNvSpPr>
            <a:spLocks noGrp="1"/>
          </p:cNvSpPr>
          <p:nvPr/>
        </p:nvSpPr>
        <p:spPr>
          <a:xfrm>
            <a:off x="6710680" y="1340485"/>
            <a:ext cx="4871720" cy="3794125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>
            <a:defPPr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本研究考察非前缀KV缓存复用中的隐私边界。</a:t>
            </a:r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1．可访问公共缓存，可编辑公共文本</a:t>
            </a:r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（1）逐token KV重构</a:t>
            </a:r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（2）字段引导编码增强，结合</a:t>
            </a:r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Key差分加权与注意力位置更新</a:t>
            </a:r>
            <a:endParaRPr sz="1650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2．不可访问目标缓存，可编辑公共文本</a:t>
            </a:r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（3）训练通用引导，放在公共文本前，</a:t>
            </a:r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促使私有信息经公共缓存被后续请求恢复。</a:t>
            </a:r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14000"/>
              </a:lnSpc>
              <a:buNone/>
              <a:def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650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三种方法均使用模型权重，属于白盒研究。</a:t>
            </a:r>
            <a:endParaRPr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953" y="0"/>
            <a:ext cx="11610094" cy="6534150"/>
          </a:xfrm>
          <a:prstGeom prst="rect">
            <a:avLst/>
          </a:prstGeom>
        </p:spPr>
      </p:pic>
      <p:sp>
        <p:nvSpPr>
          <p:cNvPr id="2" name="slide-number"/>
          <p:cNvSpPr>
            <a:spLocks noGrp="1"/>
          </p:cNvSpPr>
          <p:nvPr/>
        </p:nvSpPr>
        <p:spPr>
          <a:xfrm>
            <a:off x="11430000" y="6591300"/>
            <a:ext cx="4000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05000"/>
              </a:lnSpc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</a:t>
            </a:r>
            <a:endParaRPr sz="1275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953" y="0"/>
            <a:ext cx="11610094" cy="6534150"/>
          </a:xfrm>
          <a:prstGeom prst="rect">
            <a:avLst/>
          </a:prstGeom>
        </p:spPr>
      </p:pic>
      <p:sp>
        <p:nvSpPr>
          <p:cNvPr id="2" name="slide-number"/>
          <p:cNvSpPr>
            <a:spLocks noGrp="1"/>
          </p:cNvSpPr>
          <p:nvPr/>
        </p:nvSpPr>
        <p:spPr>
          <a:xfrm>
            <a:off x="11430000" y="6591300"/>
            <a:ext cx="4000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05000"/>
              </a:lnSpc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</a:t>
            </a:r>
            <a:endParaRPr sz="1275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18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方案一、二｜数据集配置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lead"/>
          <p:cNvSpPr>
            <a:spLocks noGrp="1"/>
          </p:cNvSpPr>
          <p:nvPr/>
        </p:nvSpPr>
        <p:spPr>
          <a:xfrm>
            <a:off x="609600" y="129540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18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包含医疗，金融，企业认识，个人身份，</a:t>
            </a: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800条多场景记录，</a:t>
            </a:r>
            <a:r>
              <a:rPr lang="zh-CN"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包含诊断，过敏，月薪，个人身份信息等</a:t>
            </a: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16类隐私</a:t>
            </a:r>
            <a:r>
              <a:rPr lang="zh-CN"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信息。</a:t>
            </a:r>
            <a:endParaRPr lang="zh-CN"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623570" y="2564765"/>
          <a:ext cx="10972800" cy="3486150"/>
        </p:xfrm>
        <a:graphic>
          <a:graphicData uri="http://schemas.openxmlformats.org/drawingml/2006/table">
            <a:tbl>
              <a:tblPr/>
              <a:tblGrid>
                <a:gridCol w="2000250"/>
                <a:gridCol w="1428750"/>
                <a:gridCol w="7543800"/>
              </a:tblGrid>
              <a:tr h="55245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场景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记录数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隐私目标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</a:tr>
              <a:tr h="7334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医疗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诊断、用药名称、过敏物质、诊断日期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银行金融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转账金额、收款人姓名、月收入、银行账号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企业人事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月薪、绩效等级、离职日期、离职原因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个人身份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邮箱、电话号码、街道地址、出生日期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8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方法一｜实验结果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body-2"/>
          <p:cNvSpPr>
            <a:spLocks noGrp="1"/>
          </p:cNvSpPr>
          <p:nvPr/>
        </p:nvSpPr>
        <p:spPr>
          <a:xfrm>
            <a:off x="628650" y="1247775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实验设置：四种隐私场景：医疗，企业人事，个人身份信息，银行转账记录。每个场景</a:t>
            </a: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200</a:t>
            </a: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个样本合计</a:t>
            </a: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800</a:t>
            </a: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个</a:t>
            </a: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样本</a:t>
            </a:r>
            <a:endParaRPr sz="18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953" y="0"/>
            <a:ext cx="11610094" cy="6534150"/>
          </a:xfrm>
          <a:prstGeom prst="rect">
            <a:avLst/>
          </a:prstGeom>
        </p:spPr>
      </p:pic>
      <p:sp>
        <p:nvSpPr>
          <p:cNvPr id="2" name="slide-number"/>
          <p:cNvSpPr>
            <a:spLocks noGrp="1"/>
          </p:cNvSpPr>
          <p:nvPr/>
        </p:nvSpPr>
        <p:spPr>
          <a:xfrm>
            <a:off x="11430000" y="6591300"/>
            <a:ext cx="4000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05000"/>
              </a:lnSpc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</a:t>
            </a:r>
            <a:endParaRPr sz="1275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4037" y="0"/>
            <a:ext cx="11423927" cy="6429375"/>
          </a:xfrm>
          <a:prstGeom prst="rect">
            <a:avLst/>
          </a:prstGeom>
        </p:spPr>
      </p:pic>
      <p:sp>
        <p:nvSpPr>
          <p:cNvPr id="2" name="implementation-note"/>
          <p:cNvSpPr>
            <a:spLocks noGrp="1"/>
          </p:cNvSpPr>
          <p:nvPr/>
        </p:nvSpPr>
        <p:spPr>
          <a:xfrm>
            <a:off x="323850" y="6505575"/>
            <a:ext cx="10953750" cy="3048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575">
                <a:solidFill>
                  <a:srgbClr val="9B5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575">
                <a:solidFill>
                  <a:srgbClr val="9B5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575">
                <a:solidFill>
                  <a:srgbClr val="9B5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575">
                <a:solidFill>
                  <a:srgbClr val="9B5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575">
                <a:solidFill>
                  <a:srgbClr val="9B5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575">
                <a:solidFill>
                  <a:srgbClr val="9B5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575">
                <a:solidFill>
                  <a:srgbClr val="9B5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575">
                <a:solidFill>
                  <a:srgbClr val="9B5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575">
                <a:solidFill>
                  <a:srgbClr val="9B5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575">
                <a:solidFill>
                  <a:srgbClr val="9B5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05000"/>
              </a:lnSpc>
              <a:buNone/>
              <a:defRPr sz="1575">
                <a:solidFill>
                  <a:srgbClr val="9B5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575">
                <a:solidFill>
                  <a:srgbClr val="9B512B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当前实现：先计算ΔK，再由问题Query评分并归一化，不使用图中的两组权重相减。</a:t>
            </a:r>
            <a:endParaRPr sz="1575">
              <a:solidFill>
                <a:srgbClr val="9B512B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slide-number"/>
          <p:cNvSpPr>
            <a:spLocks noGrp="1"/>
          </p:cNvSpPr>
          <p:nvPr/>
        </p:nvSpPr>
        <p:spPr>
          <a:xfrm>
            <a:off x="11430000" y="6591300"/>
            <a:ext cx="4000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05000"/>
              </a:lnSpc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10</a:t>
            </a:r>
            <a:endParaRPr sz="1275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6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18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方案一、二｜数据集配置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lead"/>
          <p:cNvSpPr>
            <a:spLocks noGrp="1"/>
          </p:cNvSpPr>
          <p:nvPr/>
        </p:nvSpPr>
        <p:spPr>
          <a:xfrm>
            <a:off x="609600" y="129540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18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lang="zh-CN"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包含医疗，金融，企业认识，个人身份，</a:t>
            </a: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800条多场景记录，</a:t>
            </a:r>
            <a:r>
              <a:rPr lang="zh-CN"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包含诊断，过敏，月薪，个人身份信息等</a:t>
            </a: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16类隐私</a:t>
            </a:r>
            <a:r>
              <a:rPr lang="zh-CN"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信息。</a:t>
            </a:r>
            <a:endParaRPr lang="zh-CN"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3" name="表格 2"/>
          <p:cNvGraphicFramePr/>
          <p:nvPr>
            <p:custDataLst>
              <p:tags r:id="rId1"/>
            </p:custDataLst>
          </p:nvPr>
        </p:nvGraphicFramePr>
        <p:xfrm>
          <a:off x="623570" y="2564765"/>
          <a:ext cx="10972800" cy="3486150"/>
        </p:xfrm>
        <a:graphic>
          <a:graphicData uri="http://schemas.openxmlformats.org/drawingml/2006/table">
            <a:tbl>
              <a:tblPr/>
              <a:tblGrid>
                <a:gridCol w="2000250"/>
                <a:gridCol w="1428750"/>
                <a:gridCol w="7543800"/>
              </a:tblGrid>
              <a:tr h="55245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场景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记录数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隐私目标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</a:tr>
              <a:tr h="7334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医疗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诊断、用药名称、过敏物质、诊断日期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银行金融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转账金额、收款人姓名、月收入、银行账号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企业人事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月薪、绩效等级、离职日期、离职原因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3425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个人身份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邮箱、电话号码、街道地址、出生日期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18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方法二｜实验结果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11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body-2"/>
          <p:cNvSpPr>
            <a:spLocks noGrp="1"/>
          </p:cNvSpPr>
          <p:nvPr/>
        </p:nvSpPr>
        <p:spPr>
          <a:xfrm>
            <a:off x="628650" y="1247775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恢复分 · 完全匹配 EM · 语义相似度 CS</a:t>
            </a:r>
            <a:endParaRPr sz="18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953" y="0"/>
            <a:ext cx="11610094" cy="6534150"/>
          </a:xfrm>
          <a:prstGeom prst="rect">
            <a:avLst/>
          </a:prstGeom>
        </p:spPr>
      </p:pic>
      <p:sp>
        <p:nvSpPr>
          <p:cNvPr id="2" name="slide-number"/>
          <p:cNvSpPr>
            <a:spLocks noGrp="1"/>
          </p:cNvSpPr>
          <p:nvPr/>
        </p:nvSpPr>
        <p:spPr>
          <a:xfrm>
            <a:off x="11430000" y="6591300"/>
            <a:ext cx="4000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05000"/>
              </a:lnSpc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12</a:t>
            </a:r>
            <a:endParaRPr sz="1275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90953" y="0"/>
            <a:ext cx="11610094" cy="6534150"/>
          </a:xfrm>
          <a:prstGeom prst="rect">
            <a:avLst/>
          </a:prstGeom>
        </p:spPr>
      </p:pic>
      <p:sp>
        <p:nvSpPr>
          <p:cNvPr id="2" name="slide-number"/>
          <p:cNvSpPr>
            <a:spLocks noGrp="1"/>
          </p:cNvSpPr>
          <p:nvPr/>
        </p:nvSpPr>
        <p:spPr>
          <a:xfrm>
            <a:off x="11430000" y="6591300"/>
            <a:ext cx="400050" cy="2190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05000"/>
              </a:lnSpc>
              <a:buNone/>
              <a:def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13</a:t>
            </a:r>
            <a:endParaRPr sz="1275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6F8F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方案三｜数据集配置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14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6" name="dataset-lead"/>
          <p:cNvSpPr>
            <a:spLocks noGrp="1"/>
          </p:cNvSpPr>
          <p:nvPr/>
        </p:nvSpPr>
        <p:spPr>
          <a:xfrm>
            <a:off x="609600" y="1295400"/>
            <a:ext cx="1097280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18000"/>
              </a:lnSpc>
              <a:buNone/>
              <a:def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2250" b="1">
                <a:solidFill>
                  <a:srgbClr val="167E7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Synthea合成医疗记录，共2328位独立患者</a:t>
            </a:r>
            <a:endParaRPr sz="2250" b="1">
              <a:solidFill>
                <a:srgbClr val="167E7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>
            <p:custDataLst>
              <p:tags r:id="rId1"/>
            </p:custDataLst>
          </p:nvPr>
        </p:nvGraphicFramePr>
        <p:xfrm>
          <a:off x="609600" y="2114550"/>
          <a:ext cx="4191000" cy="3486150"/>
        </p:xfrm>
        <a:graphic>
          <a:graphicData uri="http://schemas.openxmlformats.org/drawingml/2006/table">
            <a:tbl>
              <a:tblPr/>
              <a:tblGrid>
                <a:gridCol w="2381250"/>
                <a:gridCol w="1809750"/>
              </a:tblGrid>
              <a:tr h="5334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划分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患者数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</a:tr>
              <a:tr h="590550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开发集</a:t>
                      </a:r>
                      <a:endParaRPr sz="195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128</a:t>
                      </a:r>
                      <a:endParaRPr sz="195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训练集</a:t>
                      </a:r>
                      <a:endParaRPr sz="195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1000</a:t>
                      </a:r>
                      <a:endParaRPr sz="195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验证集</a:t>
                      </a:r>
                      <a:endParaRPr sz="195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200</a:t>
                      </a:r>
                      <a:endParaRPr sz="195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测试集</a:t>
                      </a:r>
                      <a:endParaRPr sz="195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1000</a:t>
                      </a:r>
                      <a:endParaRPr sz="195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590550"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合计</a:t>
                      </a:r>
                      <a:endParaRPr sz="195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950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2328</a:t>
                      </a:r>
                      <a:endParaRPr sz="1950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表格 7"/>
          <p:cNvGraphicFramePr/>
          <p:nvPr/>
        </p:nvGraphicFramePr>
        <p:xfrm>
          <a:off x="5219700" y="2114550"/>
          <a:ext cx="6362700" cy="3486152"/>
        </p:xfrm>
        <a:graphic>
          <a:graphicData uri="http://schemas.openxmlformats.org/drawingml/2006/table">
            <a:tbl>
              <a:tblPr/>
              <a:tblGrid>
                <a:gridCol w="1476375"/>
                <a:gridCol w="4886325"/>
              </a:tblGrid>
              <a:tr h="533400"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隐私信息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内容</a:t>
                      </a:r>
                      <a:endParaRPr sz="1800" b="1">
                        <a:solidFill>
                          <a:srgbClr val="FFFFFF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T w="9525">
                      <a:solidFill>
                        <a:srgbClr val="D9E4E3"/>
                      </a:solidFill>
                      <a:prstDash val="solid"/>
                    </a:lnT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132B3A"/>
                    </a:solidFill>
                  </a:tcPr>
                </a:tc>
              </a:tr>
              <a:tr h="73818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姓名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去除数字编号后的自然姓名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出生日期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完整的年、月、日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家庭地址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街道、门牌号及原有单元号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738188"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诊断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L w="9525">
                      <a:solidFill>
                        <a:srgbClr val="D9E4E3"/>
                      </a:solidFill>
                      <a:prstDash val="solid"/>
                    </a:lnL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875" b="0">
                          <a:solidFill>
                            <a:srgbClr val="132B3A"/>
                          </a:solidFill>
                          <a:latin typeface="微软雅黑" panose="020B0503020204020204" charset="-122"/>
                          <a:ea typeface="微软雅黑" panose="020B0503020204020204" charset="-122"/>
                          <a:cs typeface="微软雅黑" panose="020B0503020204020204" charset="-122"/>
                        </a:rPr>
                        <a:t>原始英文诊断描述</a:t>
                      </a:r>
                      <a:endParaRPr sz="1875" b="0">
                        <a:solidFill>
                          <a:srgbClr val="132B3A"/>
                        </a:solidFill>
                        <a:latin typeface="微软雅黑" panose="020B0503020204020204" charset="-122"/>
                        <a:ea typeface="微软雅黑" panose="020B0503020204020204" charset="-122"/>
                        <a:cs typeface="微软雅黑" panose="020B0503020204020204" charset="-122"/>
                      </a:endParaRPr>
                    </a:p>
                  </a:txBody>
                  <a:tcPr marL="152400" marR="152400" marT="114300" marB="114300" anchor="ctr">
                    <a:lnR w="9525">
                      <a:solidFill>
                        <a:srgbClr val="D9E4E3"/>
                      </a:solidFill>
                      <a:prstDash val="solid"/>
                    </a:lnR>
                    <a:lnB w="9525">
                      <a:solidFill>
                        <a:srgbClr val="D9E4E3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dataset-boundary"/>
          <p:cNvSpPr>
            <a:spLocks noGrp="1"/>
          </p:cNvSpPr>
          <p:nvPr/>
        </p:nvSpPr>
        <p:spPr>
          <a:xfrm>
            <a:off x="628650" y="5962650"/>
            <a:ext cx="10934700" cy="4191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18000"/>
              </a:lnSpc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各划分患者互不重叠，保留原有英文内容，不进行翻译。</a:t>
            </a:r>
            <a:endParaRPr sz="18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" name="slide-title"/>
          <p:cNvSpPr>
            <a:spLocks noGrp="1"/>
          </p:cNvSpPr>
          <p:nvPr/>
        </p:nvSpPr>
        <p:spPr>
          <a:xfrm>
            <a:off x="609600" y="428625"/>
            <a:ext cx="10972800" cy="6286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3300" b="1">
                <a:solidFill>
                  <a:srgbClr val="132B3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方法三｜实验结果</a:t>
            </a:r>
            <a:endParaRPr sz="3300" b="1">
              <a:solidFill>
                <a:srgbClr val="132B3A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2" name="slide-number"/>
          <p:cNvSpPr>
            <a:spLocks noGrp="1"/>
          </p:cNvSpPr>
          <p:nvPr/>
        </p:nvSpPr>
        <p:spPr>
          <a:xfrm>
            <a:off x="11258550" y="6400800"/>
            <a:ext cx="4000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 algn="r"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 algn="r">
              <a:lnSpc>
                <a:spcPct val="122000"/>
              </a:lnSpc>
              <a:buNone/>
              <a:def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2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15</a:t>
            </a:r>
            <a:endParaRPr sz="12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3" name="body-2"/>
          <p:cNvSpPr>
            <a:spLocks noGrp="1"/>
          </p:cNvSpPr>
          <p:nvPr/>
        </p:nvSpPr>
        <p:spPr>
          <a:xfrm>
            <a:off x="628650" y="1247775"/>
            <a:ext cx="10763250" cy="5143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defPPr>
            <a:lvl1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1pPr>
            <a:lvl2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2pPr>
            <a:lvl3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3pPr>
            <a:lvl4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4pPr>
            <a:lvl5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5pPr>
            <a:lvl6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6pPr>
            <a:lvl7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7pPr>
            <a:lvl8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8pPr>
            <a:lvl9pPr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lvl9pPr>
          </a:lstStyle>
          <a:p>
            <a:pPr>
              <a:lnSpc>
                <a:spcPct val="122000"/>
              </a:lnSpc>
              <a:buNone/>
              <a:def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defRPr>
            </a:pPr>
            <a:r>
              <a:rPr sz="1875" b="0">
                <a:solidFill>
                  <a:srgbClr val="536773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姓名、出生日期、家庭地址、诊断的恢复结果</a:t>
            </a:r>
            <a:endParaRPr sz="1875" b="0">
              <a:solidFill>
                <a:srgbClr val="536773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2045" y="2373630"/>
            <a:ext cx="10536555" cy="3186430"/>
          </a:xfrm>
          <a:prstGeom prst="rect">
            <a:avLst/>
          </a:prstGeom>
        </p:spPr>
      </p:pic>
    </p:spTree>
  </p:cSld>
  <p:clrMapOvr>
    <a:masterClrMapping/>
  </p:clrMapOvr>
</p:sld>
</file>

<file path=ppt/tags/tag1.xml><?xml version="1.0" encoding="utf-8"?>
<p:tagLst xmlns:p="http://schemas.openxmlformats.org/presentationml/2006/main">
  <p:tag name="KSO_WM_UNIT_TABLE_BEAUTIFY" val="smartTable{fb9857aa-3487-4f95-93eb-1cc037d9eac0}"/>
</p:tagLst>
</file>

<file path=ppt/tags/tag2.xml><?xml version="1.0" encoding="utf-8"?>
<p:tagLst xmlns:p="http://schemas.openxmlformats.org/presentationml/2006/main">
  <p:tag name="KSO_WM_UNIT_TABLE_BEAUTIFY" val="smartTable{fb9857aa-3487-4f95-93eb-1cc037d9eac0}"/>
</p:tagLst>
</file>

<file path=ppt/tags/tag3.xml><?xml version="1.0" encoding="utf-8"?>
<p:tagLst xmlns:p="http://schemas.openxmlformats.org/presentationml/2006/main">
  <p:tag name="KSO_WM_UNIT_TABLE_BEAUTIFY" val="smartTable{5ba9de08-c005-4cff-b449-570a6a8182c7}"/>
</p:tagLst>
</file>

<file path=ppt/tags/tag4.xml><?xml version="1.0" encoding="utf-8"?>
<p:tagLst xmlns:p="http://schemas.openxmlformats.org/presentationml/2006/main">
  <p:tag name="COMMONDATA" val="eyJoZGlkIjoiZDI4NjEwMmIzYjdlNjk2MGI4OWZlYzc1YWRjNTAwMjgifQ=="/>
</p:tagLst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955</Words>
  <Application>WPS 演示</Application>
  <PresentationFormat>Converted Presentation</PresentationFormat>
  <Paragraphs>187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3" baseType="lpstr">
      <vt:lpstr>Arial</vt:lpstr>
      <vt:lpstr>宋体</vt:lpstr>
      <vt:lpstr>Wingdings</vt:lpstr>
      <vt:lpstr>微软雅黑</vt:lpstr>
      <vt:lpstr>Arial Unicode MS</vt:lpstr>
      <vt:lpstr>Aptos</vt:lpstr>
      <vt:lpstr>Segoe Print</vt:lpstr>
      <vt:lpstr>Calibri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kevin</cp:lastModifiedBy>
  <cp:revision>2</cp:revision>
  <dcterms:created xsi:type="dcterms:W3CDTF">2026-10-18T14:23:13Z</dcterms:created>
  <dcterms:modified xsi:type="dcterms:W3CDTF">2026-10-18T14:25:21Z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4C7A7AE785B648128E3BA9BCD608F8B5_12</vt:lpwstr>
  </property>
  <property fmtid="{D5CDD505-2E9C-101B-9397-08002B2CF9AE}" pid="3" name="KSOProductBuildVer">
    <vt:lpwstr>2052-11.1.0.14309</vt:lpwstr>
  </property>
</Properties>
</file>
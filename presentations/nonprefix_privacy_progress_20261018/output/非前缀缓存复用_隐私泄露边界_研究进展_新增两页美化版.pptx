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4b93c461b44955" /><Relationship Type="http://schemas.openxmlformats.org/officeDocument/2006/relationships/extended-properties" Target="/docProps/app.xml" Id="R870589015e644a18" /><Relationship Type="http://schemas.openxmlformats.org/officeDocument/2006/relationships/officeDocument" Target="/ppt/presentation.xml" Id="R4d212186e7ff42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748a1b9b642ad"/>
  </p:sldMasterIdLst>
  <p:notesMasterIdLst>
    <p:notesMasterId xmlns:r="http://schemas.openxmlformats.org/officeDocument/2006/relationships" r:id="R11f3a326165c447b"/>
  </p:notesMasterIdLst>
  <p:sldIdLst>
    <p:sldId xmlns:r="http://schemas.openxmlformats.org/officeDocument/2006/relationships" id="256" r:id="Re6910468b8534391"/>
    <p:sldId xmlns:r="http://schemas.openxmlformats.org/officeDocument/2006/relationships" id="257" r:id="R01008ca32a5e4053"/>
    <p:sldId xmlns:r="http://schemas.openxmlformats.org/officeDocument/2006/relationships" id="258" r:id="Rc987f95324944de2"/>
    <p:sldId xmlns:r="http://schemas.openxmlformats.org/officeDocument/2006/relationships" id="259" r:id="Raba79bf49bd84df0"/>
    <p:sldId xmlns:r="http://schemas.openxmlformats.org/officeDocument/2006/relationships" id="260" r:id="Rb7b0ac9c270f405c"/>
    <p:sldId xmlns:r="http://schemas.openxmlformats.org/officeDocument/2006/relationships" id="261" r:id="Rfaec7047a79b4f8f"/>
    <p:sldId xmlns:r="http://schemas.openxmlformats.org/officeDocument/2006/relationships" id="262" r:id="R68ab15b72d734825"/>
    <p:sldId xmlns:r="http://schemas.openxmlformats.org/officeDocument/2006/relationships" id="263" r:id="Rd8d43cd2af044577"/>
    <p:sldId xmlns:r="http://schemas.openxmlformats.org/officeDocument/2006/relationships" id="264" r:id="Rcfa346043d8a4242"/>
    <p:sldId xmlns:r="http://schemas.openxmlformats.org/officeDocument/2006/relationships" id="265" r:id="R1ce93dd3094a4e5a"/>
    <p:sldId xmlns:r="http://schemas.openxmlformats.org/officeDocument/2006/relationships" id="266" r:id="R9a7263450ddc4e2f"/>
    <p:sldId xmlns:r="http://schemas.openxmlformats.org/officeDocument/2006/relationships" id="267" r:id="Rdb07fa6acbfc471d"/>
    <p:sldId xmlns:r="http://schemas.openxmlformats.org/officeDocument/2006/relationships" id="268" r:id="R511f6985ab454381"/>
    <p:sldId xmlns:r="http://schemas.openxmlformats.org/officeDocument/2006/relationships" id="269" r:id="R58feafdd7b1f4a68"/>
    <p:sldId xmlns:r="http://schemas.openxmlformats.org/officeDocument/2006/relationships" id="270" r:id="Reb38e6c59e054a27"/>
    <p:sldId xmlns:r="http://schemas.openxmlformats.org/officeDocument/2006/relationships" id="271" r:id="R7bc40be2fee743d3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5890e8cdb44c5" /><Relationship Type="http://schemas.openxmlformats.org/officeDocument/2006/relationships/slideMaster" Target="/ppt/slideMasters/slideMaster1.xml" Id="R559748a1b9b642ad" /><Relationship Type="http://schemas.openxmlformats.org/officeDocument/2006/relationships/notesMaster" Target="/ppt/notesMasters/notesMaster1.xml" Id="R11f3a326165c447b" /><Relationship Type="http://schemas.openxmlformats.org/officeDocument/2006/relationships/presProps" Target="/ppt/presProps.xml" Id="Rd250ebc4959f4089" /><Relationship Type="http://schemas.openxmlformats.org/officeDocument/2006/relationships/viewProps" Target="/ppt/viewProps.xml" Id="R4d4012dc303b4d7d" /><Relationship Type="http://schemas.openxmlformats.org/officeDocument/2006/relationships/tableStyles" Target="/ppt/tableStyles.xml" Id="Raaff0bd47af54623" /><Relationship Type="http://schemas.openxmlformats.org/officeDocument/2006/relationships/slide" Target="/ppt/slides/slide1.xml" Id="Re6910468b8534391" /><Relationship Type="http://schemas.openxmlformats.org/officeDocument/2006/relationships/slide" Target="/ppt/slides/slide2.xml" Id="R01008ca32a5e4053" /><Relationship Type="http://schemas.openxmlformats.org/officeDocument/2006/relationships/slide" Target="/ppt/slides/slide3.xml" Id="Rc987f95324944de2" /><Relationship Type="http://schemas.openxmlformats.org/officeDocument/2006/relationships/slide" Target="/ppt/slides/slide4.xml" Id="Raba79bf49bd84df0" /><Relationship Type="http://schemas.openxmlformats.org/officeDocument/2006/relationships/slide" Target="/ppt/slides/slide5.xml" Id="Rb7b0ac9c270f405c" /><Relationship Type="http://schemas.openxmlformats.org/officeDocument/2006/relationships/slide" Target="/ppt/slides/slide6.xml" Id="Rfaec7047a79b4f8f" /><Relationship Type="http://schemas.openxmlformats.org/officeDocument/2006/relationships/slide" Target="/ppt/slides/slide7.xml" Id="R68ab15b72d734825" /><Relationship Type="http://schemas.openxmlformats.org/officeDocument/2006/relationships/slide" Target="/ppt/slides/slide8.xml" Id="Rd8d43cd2af044577" /><Relationship Type="http://schemas.openxmlformats.org/officeDocument/2006/relationships/slide" Target="/ppt/slides/slide9.xml" Id="Rcfa346043d8a4242" /><Relationship Type="http://schemas.openxmlformats.org/officeDocument/2006/relationships/slide" Target="/ppt/slides/slide10.xml" Id="R1ce93dd3094a4e5a" /><Relationship Type="http://schemas.openxmlformats.org/officeDocument/2006/relationships/slide" Target="/ppt/slides/slide11.xml" Id="R9a7263450ddc4e2f" /><Relationship Type="http://schemas.openxmlformats.org/officeDocument/2006/relationships/slide" Target="/ppt/slides/slide12.xml" Id="Rdb07fa6acbfc471d" /><Relationship Type="http://schemas.openxmlformats.org/officeDocument/2006/relationships/slide" Target="/ppt/slides/slide13.xml" Id="R511f6985ab454381" /><Relationship Type="http://schemas.openxmlformats.org/officeDocument/2006/relationships/slide" Target="/ppt/slides/slide14.xml" Id="R58feafdd7b1f4a68" /><Relationship Type="http://schemas.openxmlformats.org/officeDocument/2006/relationships/slide" Target="/ppt/slides/slide15.xml" Id="Reb38e6c59e054a27" /><Relationship Type="http://schemas.openxmlformats.org/officeDocument/2006/relationships/slide" Target="/ppt/slides/slide16.xml" Id="R7bc40be2fee743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549932e45a42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a5c90642c4ecd" /><Relationship Type="http://schemas.openxmlformats.org/officeDocument/2006/relationships/notesMaster" Target="/ppt/notesMasters/notesMaster1.xml" Id="R7a8f8812dd66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78197abd64cb8" /><Relationship Type="http://schemas.openxmlformats.org/officeDocument/2006/relationships/notesMaster" Target="/ppt/notesMasters/notesMaster1.xml" Id="R23d15c3bea03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c4d6b35eb43c0" /><Relationship Type="http://schemas.openxmlformats.org/officeDocument/2006/relationships/notesMaster" Target="/ppt/notesMasters/notesMaster1.xml" Id="R35cb671f0ca04b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c0e489c55b4284" /><Relationship Type="http://schemas.openxmlformats.org/officeDocument/2006/relationships/notesMaster" Target="/ppt/notesMasters/notesMaster1.xml" Id="R27be0638bb8e41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7495a449e4a38" /><Relationship Type="http://schemas.openxmlformats.org/officeDocument/2006/relationships/notesMaster" Target="/ppt/notesMasters/notesMaster1.xml" Id="Re1ef67dc701040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d0b8851ce04d16" /><Relationship Type="http://schemas.openxmlformats.org/officeDocument/2006/relationships/notesMaster" Target="/ppt/notesMasters/notesMaster1.xml" Id="R49a41966835642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2400bbc4944f20" /><Relationship Type="http://schemas.openxmlformats.org/officeDocument/2006/relationships/notesMaster" Target="/ppt/notesMasters/notesMaster1.xml" Id="Ra551198a22f746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b7ea36d07c464b" /><Relationship Type="http://schemas.openxmlformats.org/officeDocument/2006/relationships/notesMaster" Target="/ppt/notesMasters/notesMaster1.xml" Id="R4777517ce7b640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175744b5b84959" /><Relationship Type="http://schemas.openxmlformats.org/officeDocument/2006/relationships/notesMaster" Target="/ppt/notesMasters/notesMaster1.xml" Id="R309368537e1542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1c963e19a47bc" /><Relationship Type="http://schemas.openxmlformats.org/officeDocument/2006/relationships/notesMaster" Target="/ppt/notesMasters/notesMaster1.xml" Id="Rafa38cd03c6f49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52c0e14c634a36" /><Relationship Type="http://schemas.openxmlformats.org/officeDocument/2006/relationships/notesMaster" Target="/ppt/notesMasters/notesMaster1.xml" Id="Rd6fe47bc26984a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196d96b04473a" /><Relationship Type="http://schemas.openxmlformats.org/officeDocument/2006/relationships/notesMaster" Target="/ppt/notesMasters/notesMaster1.xml" Id="R8331338191d64a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90f5e2e7044279" /><Relationship Type="http://schemas.openxmlformats.org/officeDocument/2006/relationships/notesMaster" Target="/ppt/notesMasters/notesMaster1.xml" Id="R6f3a3b4e52d945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c56d0e21e24cc1" /><Relationship Type="http://schemas.openxmlformats.org/officeDocument/2006/relationships/notesMaster" Target="/ppt/notesMasters/notesMaster1.xml" Id="Rfc002e7d0dd443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a1230514854c01" /><Relationship Type="http://schemas.openxmlformats.org/officeDocument/2006/relationships/notesMaster" Target="/ppt/notesMasters/notesMaster1.xml" Id="R1859d321dd6840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85e5f38fe34ba3" /><Relationship Type="http://schemas.openxmlformats.org/officeDocument/2006/relationships/notesMaster" Target="/ppt/notesMasters/notesMaster1.xml" Id="R617452b678a2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研究进展汇报，2026-10-18。三种方法的实验结果由研究者另行补充，本稿不包含性能数值。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 xmlns:a="http://schemas.openxmlformats.org/drawingml/2006/main"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研究按公共缓存访问能力与公共文本控制能力划分。方法一/二可读取公共KV，方法二同时干预发送端公共输入。方法三目标仅控制引导文本，当前仍为软提示与受控复用原型。</a:t>
            </a:r>
          </a:p>
          <a:p xmlns:a="http://schemas.openxmlformats.org/drawingml/2006/main"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 xmlns:a="http://schemas.openxmlformats.org/drawingml/2006/main"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方法一逐token KV重建的威胁模型图。原图由用户提供，保持比例、完整画面和原始内容。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21_26_20-1.png</a:t>
            </a:r>
          </a:p>
          <a:p xmlns:a="http://schemas.openxmlformats.org/drawingml/2006/main"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 xmlns:a="http://schemas.openxmlformats.org/drawingml/2006/main"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方法一逐token KV重建的方案设计图。原图由用户提供，保持比例、完整画面和原始内容。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21_26_21-2.png</a:t>
            </a:r>
          </a:p>
          <a:p xmlns:a="http://schemas.openxmlformats.org/drawingml/2006/main"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一和方案二共用800条多场景受控隐私记录。4个场景各200条，16类目标字段各50条，每条记录只针对一个目标字段。数据由公开合成数据与基准材料构建。按每条记录独立优化替代软前缀后评估，不采用跨记录共享提示学习的独立训练/测试划分。训练阶段不读取真实私有原文、私有KV或评分答案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D:/Stepby/kv-cache研究/kv_agent/kv_priv/trusted/samples_800/tasks.jsonl; D:/Stepby/kv-cache研究/kv_agent/kv_priv/trusted/samples_800/sources.json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本页不包含实验性能数值。比较时需注明原始记录数、字段分布、优化预算和评估协议。</a:t>
            </a:r>
          </a:p>
          <a:p xmlns:a="http://schemas.openxmlformats.org/drawingml/2006/main"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方法二字段引导与公共缓存访问的威胁模型图。原图由用户提供，保持比例、完整画面和原始内容。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21_26_23-3.png</a:t>
            </a:r>
          </a:p>
          <a:p xmlns:a="http://schemas.openxmlformats.org/drawingml/2006/main"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 xmlns:a="http://schemas.openxmlformats.org/drawingml/2006/main"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 xmlns:a="http://schemas.openxmlformats.org/drawingml/2006/main"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方法二字段引导、差分加权重构与注意力位置更新的方案设计图。原图由用户提供，保持比例、完整画面和原始内容。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21_26_24-4.png</a:t>
            </a:r>
          </a:p>
          <a:p xmlns:a="http://schemas.openxmlformats.org/drawingml/2006/main"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 xmlns:a="http://schemas.openxmlformats.org/drawingml/2006/main">
            <a:r>
              <a:t>G的字段策略：语义字段要求完整复制，号码、邮箱、金额逐字符定位与重组，日期按年、月、日提取与重组。不是把真实答案填入G。</a:t>
            </a:r>
          </a:p>
          <a:p xmlns:a="http://schemas.openxmlformats.org/drawingml/2006/main"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 xmlns:a="http://schemas.openxmlformats.org/drawingml/2006/main"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  <a:p xmlns:a="http://schemas.openxmlformats.org/drawingml/2006/main">
            <a:r>
              <a:t>图示口径说明：原图中w_priv=w_obs−w_ref与当前主方案不一致。当前主方案先计算ΔK=Kobs−Kclean，再用问题Query给ΔK打分，公共位置softmax后平均问题token、聚合KV头，再加入0.1保底权重。高权重代表与问题相关的上下文变化，不保证一定含有答案。原图按用户要求保留，未改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一和方案二共用800条多场景受控隐私记录。4个场景各200条，16类目标字段各50条，每条记录只针对一个目标字段。数据由公开合成数据与基准材料构建。按每条记录独立优化替代软前缀后评估，不采用跨记录共享提示学习的独立训练/测试划分。训练阶段不读取真实私有原文、私有KV或评分答案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D:/Stepby/kv-cache研究/kv_agent/kv_priv/trusted/samples_800/tasks.jsonl; D:/Stepby/kv-cache研究/kv_agent/kv_priv/trusted/samples_800/sources.json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实验结果留白。报告结果时注明实际缓存输入、引导版本及prepare时间。不能把baseline_token_4gpu或旧缓存结果直接标作新版字段引导结果。比较时控制记录、模型、问题、前缀长度与优化预算，分别分析发送端引导、差分加权与位置更新的贡献。</a:t>
            </a:r>
          </a:p>
          <a:p xmlns:a="http://schemas.openxmlformats.org/drawingml/2006/main"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 xmlns:a="http://schemas.openxmlformats.org/drawingml/2006/main"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方法三通用引导学习的威胁模型图。原图由用户提供，保持比例、完整画面和原始内容。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21_26_26-5.png</a:t>
            </a:r>
          </a:p>
          <a:p xmlns:a="http://schemas.openxmlformats.org/drawingml/2006/main"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方法三共享通用引导的训练与独立患者测试流程图。原图由用户提供，保持比例、完整画面和原始内容。</a:t>
            </a:r>
          </a:p>
          <a:p xmlns:a="http://schemas.openxmlformats.org/drawingml/2006/main">
            <a:r>
              <a:t>Image source: D:\Stepby\kv-cache研究\medical_privacy_prompt\presentations\nonprefix_privacy_progress_20261018\ChatGPT 图像 2026年10月18日 21_26_27-6.png</a:t>
            </a:r>
          </a:p>
          <a:p xmlns:a="http://schemas.openxmlformats.org/drawingml/2006/main"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 xmlns:a="http://schemas.openxmlformats.org/drawingml/2006/main"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三使用Synthea生成的2328位独立合成患者。开发128、训练1000、验证200、测试1000，合计2328；患者划分互不重叠。每条记录均包含姓名、出生日期、家庭地址和诊断。姓名仅去掉原组件末尾数字编号，其他原有英文内容保留，不翻译。地址保留原有门牌号和单元号。</a:t>
            </a:r>
          </a:p>
          <a:p xmlns:a="http://schemas.openxmlformats.org/drawingml/2006/main">
            <a:r>
              <a:t>Sources: D:/Stepby/kv-cache研究/medical_privacy_prompt/data/dataset_v1/manifest.json; D:/Stepby/kv-cache研究/medical_privacy_prompt/data/dataset_v1/train.jsonl; D:/Stepby/kv-cache研究/medical_privacy_prompt/data/dataset_v1/validation.jsonl; D:/Stepby/kv-cache研究/medical_privacy_prompt/data/dataset_v1/test.jsonl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本页保留实验结果位置。对应数据为独立划分的合成患者记录，训练1000、验证200、测试1000；按姓名、出生日期、家庭地址和诊断报告恢复结果。</a:t>
            </a:r>
          </a:p>
          <a:p xmlns:a="http://schemas.openxmlformats.org/drawingml/2006/main">
            <a:r>
              <a:t>Sources: D:/Stepby/kv-cache研究/medical_privacy_prompt/data/dataset_v1/manifest.json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本页保留实验结果位置。对应数据为独立划分的合成患者记录，训练1000、验证200、测试1000；按姓名、出生日期、家庭地址和诊断报告恢复结果。</a:t>
            </a:r>
          </a:p>
          <a:p xmlns:a="http://schemas.openxmlformats.org/drawingml/2006/main">
            <a:r>
              <a:t>Sources: D:/Stepby/kv-cache研究/medical_privacy_prompt/data/dataset_v1/manifest.json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本页保留实验结果位置。对应数据为独立划分的合成患者记录，训练1000、验证200、测试1000；按姓名、出生日期、家庭地址和诊断报告恢复结果。</a:t>
            </a:r>
          </a:p>
          <a:p xmlns:a="http://schemas.openxmlformats.org/drawingml/2006/main">
            <a:r>
              <a:t>Sources: D:/Stepby/kv-cache研究/medical_privacy_prompt/data/dataset_v1/manifest.json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研究问题：</a:t>
            </a:r>
          </a:p>
          <a:p xmlns:a="http://schemas.openxmlformats.org/drawingml/2006/main">
            <a:r>
              <a:t>当相同文档出现在不同请求的非前缀位置时，能否直接复用该文档的 KV Cache，从而减少重复 Prefill 计算和缓存存储？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论文设计了一个基于 vLLM 的非前缀 KV Cache 复用系统.</a:t>
            </a:r>
          </a:p>
          <a:p xmlns:a="http://schemas.openxmlformats.org/drawingml/2006/main">
            <a:r>
              <a:t>这本身不是一篇关于kv_cache隐私保护的文章，而是一篇关于大模型推理系统优化的文章。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AppendixA.2:如果一个公共文档的 KV Cache 是在包含私有前缀的上下文中生成的，那么这个公共文档的 KV 可能保留来自前缀的信息。即使后续请求没有包含原始私有前缀，模型仍然可能输出其中的敏感内容。</a:t>
            </a:r>
          </a:p>
          <a:p xmlns:a="http://schemas.openxmlformats.org/drawingml/2006/main">
            <a:r>
              <a:t>实验模型： 论文整体使用 GPT-OSS-120B，A.2 未单独说明是否更换模型。</a:t>
            </a:r>
          </a:p>
          <a:p xmlns:a="http://schemas.openxmlformats.org/drawingml/2006/main">
            <a:r>
              <a:t>隐私数据： 100 个常见姓氏，包括 50 个美国姓氏和 50 个日本姓氏。</a:t>
            </a:r>
          </a:p>
          <a:p xmlns:a="http://schemas.openxmlformats.org/drawingml/2006/main">
            <a:r>
              <a:t>缓存内容： 仅保存公共上下文片段的 KV Cache，不保存包含姓名的前缀 KV。</a:t>
            </a:r>
          </a:p>
          <a:p xmlns:a="http://schemas.openxmlformats.org/drawingml/2006/main">
            <a:r>
              <a:t>攻击方式： 在不提供原始私有前缀的情况下，复用公共 KV，并通过问题诱导模型输出姓名。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D:\Stepby\kv-cache研究\非前缀缓存复用_隐私泄露边界_研究进展_美化逻辑版.pptx，第16页提供的研究内容。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bdbbb39bf4d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9d9a529747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f631db23a4e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6790c19ee48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7eea6479645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6a94c4095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FBE926-5034-4022-AC78-D821C17DE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0DD755-32DB-4347-BBB3-2DCBE3A51F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EDE7BB-74D6-4B16-98B9-4C8E0B3718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51A23-1FD6-495B-88FB-3054721E7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5C8FFE-4A24-42A5-82BC-AA54B68844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ACC279-D1C0-42CD-B9D0-14501AC73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9E206C-89A9-4F21-A4F5-8F7E0E14DD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409B64-D851-462D-9154-7588F9D6F8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64C3D4-7C7C-4AB2-931A-099A7E435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5B2116-AB8B-429B-A64A-8FD1352828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047e5c7f34910" /><Relationship Type="http://schemas.openxmlformats.org/officeDocument/2006/relationships/slideLayout" Target="/ppt/slideLayouts/slideLayout1.xml" Id="Readde70517004495" /><Relationship Type="http://schemas.openxmlformats.org/officeDocument/2006/relationships/slideLayout" Target="/ppt/slideLayouts/slideLayout2.xml" Id="Rb6c78dfbfc124967" /><Relationship Type="http://schemas.openxmlformats.org/officeDocument/2006/relationships/slideLayout" Target="/ppt/slideLayouts/slideLayout3.xml" Id="R332475f573f24a37" /><Relationship Type="http://schemas.openxmlformats.org/officeDocument/2006/relationships/slideLayout" Target="/ppt/slideLayouts/slideLayout4.xml" Id="Re3082565aa9d49cd" /><Relationship Type="http://schemas.openxmlformats.org/officeDocument/2006/relationships/slideLayout" Target="/ppt/slideLayouts/slideLayout5.xml" Id="Rec435797275c4d87" /><Relationship Type="http://schemas.openxmlformats.org/officeDocument/2006/relationships/slideLayout" Target="/ppt/slideLayouts/slideLayout6.xml" Id="R6715144ed7fb43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de70517004495"/>
    <p:sldLayoutId xmlns:r="http://schemas.openxmlformats.org/officeDocument/2006/relationships" id="2147483650" r:id="Rb6c78dfbfc124967"/>
    <p:sldLayoutId xmlns:r="http://schemas.openxmlformats.org/officeDocument/2006/relationships" id="2147483651" r:id="R332475f573f24a37"/>
    <p:sldLayoutId xmlns:r="http://schemas.openxmlformats.org/officeDocument/2006/relationships" id="2147483652" r:id="Re3082565aa9d49cd"/>
    <p:sldLayoutId xmlns:r="http://schemas.openxmlformats.org/officeDocument/2006/relationships" id="2147483653" r:id="Rec435797275c4d87"/>
    <p:sldLayoutId xmlns:r="http://schemas.openxmlformats.org/officeDocument/2006/relationships" id="2147483654" r:id="R6715144ed7fb43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4b9e975d14f9a" /><Relationship Type="http://schemas.openxmlformats.org/officeDocument/2006/relationships/image" Target="/ppt/media/image.png" Id="Rae2de749e4d54b22" /><Relationship Type="http://schemas.openxmlformats.org/officeDocument/2006/relationships/notesSlide" Target="/ppt/notesSlides/notesSlide1.xml" Id="R5b918d5de5c642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db46ecad164b96" /><Relationship Type="http://schemas.openxmlformats.org/officeDocument/2006/relationships/image" Target="/ppt/media/image.jpeg" Id="R0c09afae012544d6" /><Relationship Type="http://schemas.openxmlformats.org/officeDocument/2006/relationships/notesSlide" Target="/ppt/notesSlides/notesSlide2.xml" Id="Rcf4ce9b2b584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b85872dc645e3" /><Relationship Type="http://schemas.openxmlformats.org/officeDocument/2006/relationships/image" Target="/ppt/media/image2.png" Id="Rac0e307d2b3c45b0" /><Relationship Type="http://schemas.openxmlformats.org/officeDocument/2006/relationships/notesSlide" Target="/ppt/notesSlides/notesSlide3.xml" Id="Ra9559a9c45e84c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365082ca745ce" /><Relationship Type="http://schemas.openxmlformats.org/officeDocument/2006/relationships/image" Target="/ppt/media/image3.png" Id="Rcb5c205153c74add" /><Relationship Type="http://schemas.openxmlformats.org/officeDocument/2006/relationships/notesSlide" Target="/ppt/notesSlides/notesSlide4.xml" Id="Rbec3ffa30d61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c9af1fee543df" /><Relationship Type="http://schemas.openxmlformats.org/officeDocument/2006/relationships/notesSlide" Target="/ppt/notesSlides/notesSlide5.xml" Id="R8296629bff7d4a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fff4d4ae84bf3" /><Relationship Type="http://schemas.openxmlformats.org/officeDocument/2006/relationships/notesSlide" Target="/ppt/notesSlides/notesSlide6.xml" Id="R7c7899a7647f45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c667e9ba040da" /><Relationship Type="http://schemas.openxmlformats.org/officeDocument/2006/relationships/image" Target="/ppt/media/image4.png" Id="R9fbe64763a6e4531" /><Relationship Type="http://schemas.openxmlformats.org/officeDocument/2006/relationships/notesSlide" Target="/ppt/notesSlides/notesSlide7.xml" Id="R5d50ea28cafc46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fd9e38ad84579" /><Relationship Type="http://schemas.openxmlformats.org/officeDocument/2006/relationships/image" Target="/ppt/media/image5.png" Id="Rbe2935ac7f384991" /><Relationship Type="http://schemas.openxmlformats.org/officeDocument/2006/relationships/notesSlide" Target="/ppt/notesSlides/notesSlide8.xml" Id="R827e6b8956e948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bb5e83e764b4e" /><Relationship Type="http://schemas.openxmlformats.org/officeDocument/2006/relationships/notesSlide" Target="/ppt/notesSlides/notesSlide9.xml" Id="R09c81f11fca0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ebb9eba9448ce" /><Relationship Type="http://schemas.openxmlformats.org/officeDocument/2006/relationships/notesSlide" Target="/ppt/notesSlides/notesSlide10.xml" Id="R7f6516a7375c4d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729522ae04b30" /><Relationship Type="http://schemas.openxmlformats.org/officeDocument/2006/relationships/image" Target="/ppt/media/image6.png" Id="Rc1975ac6821942f9" /><Relationship Type="http://schemas.openxmlformats.org/officeDocument/2006/relationships/notesSlide" Target="/ppt/notesSlides/notesSlide11.xml" Id="Rc2083a8f9ecc40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73635016547ff" /><Relationship Type="http://schemas.openxmlformats.org/officeDocument/2006/relationships/image" Target="/ppt/media/image7.png" Id="R430538de0a2849bb" /><Relationship Type="http://schemas.openxmlformats.org/officeDocument/2006/relationships/notesSlide" Target="/ppt/notesSlides/notesSlide12.xml" Id="R32be346575d648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1807cfcd14410" /><Relationship Type="http://schemas.openxmlformats.org/officeDocument/2006/relationships/notesSlide" Target="/ppt/notesSlides/notesSlide13.xml" Id="R0200181c552e47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d66ad7672450d" /><Relationship Type="http://schemas.openxmlformats.org/officeDocument/2006/relationships/notesSlide" Target="/ppt/notesSlides/notesSlide14.xml" Id="Rf6cdef1434e24d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d77edfd0f41d8" /><Relationship Type="http://schemas.openxmlformats.org/officeDocument/2006/relationships/image" Target="/ppt/media/image8.png" Id="Rc766976121b44272" /><Relationship Type="http://schemas.openxmlformats.org/officeDocument/2006/relationships/notesSlide" Target="/ppt/notesSlides/notesSlide15.xml" Id="R89021cffae5746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edd0c8bb942b9" /><Relationship Type="http://schemas.openxmlformats.org/officeDocument/2006/relationships/notesSlide" Target="/ppt/notesSlides/notesSlide16.xml" Id="R92ffe5ec65834a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C9EA2E22-64F6-4E86-862E-8ECDB32CEF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de749e4d54b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ED403FB-3143-46CF-8800-CEBEA811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5715000" cy="3063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2E5E1E0-13A4-491D-9A5D-D93B0A8F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45920"/>
            <a:ext cx="141732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研究进展 · 2026.10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F96F27-4589-4365-AFCC-64F5F21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50749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非前缀缓存复用下的</a:t>
            </a:r>
            <a:br>
              <a:rPr sz="30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</a:br>
            <a:r>
              <a:rPr sz="30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隐私信息泄露边界</a:t>
            </a:r>
            <a:endParaRPr sz="30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A1F31F-D802-481A-A845-D3C9A0B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75887"/>
            <a:ext cx="4251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三种方法与研究进展</a:t>
            </a:r>
            <a:endParaRPr sz="150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133990-5EED-4D38-9EDA-9701590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60628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0DB7F5B-0771-4FAE-B5B1-B7B22BA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总体场景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888009-F4B2-44AB-8F3C-453BD19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研究场景与边界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33ADE6-0E91-4315-8753-711F522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统一研究对象、攻击者能力边界与三种方法的递进关系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D233DA3-9DD3-474D-8F1F-B15AA9D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6F52C12-099E-4AE0-950D-434DE7D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4892040" cy="3291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211E54-18F6-40E8-83F9-179F20BE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20240"/>
            <a:ext cx="3840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非前缀 KV 复用场景</a:t>
            </a:r>
            <a:endParaRPr sz="14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845F026-D337-4867-B051-B014C9B7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1783080"/>
            <a:ext cx="5394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攻击者能力分层</a:t>
            </a:r>
            <a:endParaRPr sz="14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B19AA4D-1F68-4472-8714-4CC3785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2212848"/>
            <a:ext cx="498348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 w="10160">
            <a:solidFill>
              <a:srgbClr val="CDEAE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18005E6-A569-4D23-9F64-4AA993A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2359152"/>
            <a:ext cx="96012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缓存可读</a:t>
            </a:r>
            <a:endParaRPr sz="9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E65B31-46AF-4CDA-9FB8-91322721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304288"/>
            <a:ext cx="3401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可访问公共缓存，可编辑公共文本</a:t>
            </a:r>
            <a:endParaRPr sz="115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A612A29-3C7B-4A80-B3D9-01BA063D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615184"/>
            <a:ext cx="34564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① 逐 token KV 重构</a:t>
            </a:r>
            <a:br>
              <a:rPr sz="10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</a:br>
            <a:r>
              <a:rPr sz="10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② 字段引导编码增强 + Key 差分加权 + 注意力位置更新</a:t>
            </a:r>
            <a:endParaRPr sz="102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BF53D4B-F66A-448C-923C-5C336B96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3547872"/>
            <a:ext cx="4983480" cy="11704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EDFB"/>
          </a:solidFill>
          <a:ln xmlns:a="http://schemas.openxmlformats.org/drawingml/2006/main" w="10160">
            <a:solidFill>
              <a:srgbClr val="DDD3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7A4D9C4-B173-4F82-A599-78EB4A5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694176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目标缓存不可读</a:t>
            </a:r>
            <a:endParaRPr sz="9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FA302D-C5CE-4E73-A0B4-687DD675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3639312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仅可编辑公共文本 / 引导</a:t>
            </a:r>
            <a:endParaRPr sz="115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C959048-82B4-4AEC-8801-19B1F49C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3950208"/>
            <a:ext cx="309067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③ 训练通用引导 U，放在公共文本前，通过缓存复用尝试恢复私有字段</a:t>
            </a:r>
            <a:endParaRPr sz="102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75D6A8F-9DE5-4231-809C-FB69D1FF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5232"/>
            <a:ext cx="34564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5"/>
          </a:solidFill>
          <a:ln xmlns:a="http://schemas.openxmlformats.org/drawingml/2006/main">
            <a:solidFill>
              <a:srgbClr val="EAF7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E8E08BA-6ADD-43F2-B219-D9DADAC8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404104"/>
            <a:ext cx="868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研究对象</a:t>
            </a:r>
            <a:endParaRPr sz="105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F650AF9-C24F-4C12-8C2C-F287CE9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5358384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公共文本位置的上下文化 KV，而非私有位置 KV</a:t>
            </a:r>
            <a:endParaRPr sz="92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A97C6C2-1081-4FFF-8402-8EB96198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5285232"/>
            <a:ext cx="34564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>
            <a:solidFill>
              <a:srgbClr val="EAF3F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8434D0E-407F-4C60-BB56-61A6829C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5404104"/>
            <a:ext cx="868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397BC0"/>
                </a:solidFill>
                <a:latin typeface="Noto Sans CJK SC"/>
                <a:ea typeface="Noto Sans CJK SC"/>
                <a:cs typeface="Noto Sans CJK SC"/>
              </a:rPr>
              <a:t>成立前提</a:t>
            </a:r>
            <a:endParaRPr sz="1050" b="1">
              <a:solidFill>
                <a:srgbClr val="397B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87D280B-CB42-435D-BB91-E0535894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5358384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公共文本位于私有记录之后；目标缓存可被后续请求复用</a:t>
            </a:r>
            <a:endParaRPr sz="92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358F9A0-7E7B-436A-A3EC-6B9056E4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285232"/>
            <a:ext cx="3456432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>
            <a:solidFill>
              <a:srgbClr val="FFF5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295B520-A5AD-431F-AF0F-B8BA57B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404104"/>
            <a:ext cx="868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>
                <a:solidFill>
                  <a:srgbClr val="E89B36"/>
                </a:solidFill>
                <a:latin typeface="Noto Sans CJK SC"/>
                <a:ea typeface="Noto Sans CJK SC"/>
                <a:cs typeface="Noto Sans CJK SC"/>
              </a:rPr>
              <a:t>边界声明</a:t>
            </a:r>
            <a:endParaRPr sz="1050" b="1">
              <a:solidFill>
                <a:srgbClr val="E89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6597B4B-C3A4-4BEA-950B-9052F5F2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5358384"/>
            <a:ext cx="2240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合成数据与受控实验 ≠ 已证明生产系统存在漏洞</a:t>
            </a:r>
            <a:endParaRPr sz="92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8D2902A6-C6AC-4A96-A922-2F8820847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9afae0125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2304288"/>
            <a:ext cx="4434840" cy="2377440"/>
          </a:xfrm>
          <a:prstGeom xmlns:a="http://schemas.openxmlformats.org/drawingml/2006/main" prst="rect">
            <a:avLst/>
          </a:prstGeom>
        </p:spPr>
      </p:pic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BEB754A-ADEF-4BBF-814B-9C12CD0F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sz="85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26935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02D0A9F-F945-417D-9063-8B69A799FD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e307d2b3c45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DAADE65-1D21-4F30-A8D0-22FB914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989779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37D27B01-E94A-4CC1-91E5-284FC07B9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c205153c7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C01630-5442-47CC-8EC2-A8EEBB4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4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691447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873F248-BDE5-40DE-AAE0-10DFE58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方法一 / 数据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8AFEC8-62BD-4004-AA8F-62E24DB4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方案一、二｜统一数据集配置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C74B80-B781-4E4A-924E-07299649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医疗、金融、企业人事与个人身份四类场景，共 800 条记录。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ED669C2-E022-4EA7-B386-46F6D2E4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E0A19C0-9FB9-4D15-8B46-0B72941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731520"/>
            <a:ext cx="26060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 场景 · 800 条 · 16 类隐私字段</a:t>
            </a:r>
            <a:endParaRPr sz="93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94DA5EB-3728-43B6-BEA8-47C54608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37FD5AA-56BC-4D40-8EE9-B16E4ED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5075F5F-7768-442A-950F-D5A01F5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7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医疗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F5D870-5EB1-4BBB-B04F-92B1C30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039111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8F15E5-4755-4028-BA95-41D5E351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0487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5D33AF9-4FF4-45A9-ACD2-7E8554E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4327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D81C0A8-B80A-407C-9C4E-FDAF12B1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8647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诊断 · 用药名称 · 过敏物质 · 诊断日期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79E850D-E98D-4141-8E92-227E04FF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874519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EBCF866-C29A-471E-85F0-E98B40E7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874519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311F508-353E-4ADE-B962-AA32259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075687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solidFill>
              <a:srgbClr val="397B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银行金融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1B06628-FD3F-4D93-82E6-3A02E483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039111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397BC0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397B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83F574C-9426-4D80-B362-B73F2D1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40487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50007B7-1C55-4D3C-82A9-68B55CC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624327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26E7A94-18AD-493B-9278-0A1DA8A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898647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转账金额 · 收款人姓名 · 月收入 · 银行账号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85050935-EA6B-4A7D-A3E7-90FB2E8A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9042C2D-97F4-40AA-89FE-D9ADE6A9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1498C92-0B0A-41DD-9092-CAD0CD2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42816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企业人事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575E494-8632-488C-A9C0-942475DD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206240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7254C7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7254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12862E6-B3DA-4E0E-A0D8-E4545D9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7200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3DF19DE-706B-4621-BB86-2DD892F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456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527334-2EFA-4F84-B957-6EB6C251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5776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月薪 · 绩效等级 · 离职日期 · 离职原因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262D55B-CBB4-441A-B001-294F943E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41648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E2E46DC-A056-4889-8DF6-E7CCED4B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41648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A527925-00BD-4566-B826-86B07F2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42816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solidFill>
              <a:srgbClr val="E89B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个人身份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B4F2521-446F-437E-8CAC-ABFC8A6D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E89B36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E89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BCC7DE3-6CAF-4E55-873B-C9FBB215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457200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C0C907A-8E08-4E32-868D-CE72A1A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791456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8174E5-979A-4A71-8E1F-65B14640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065776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邮箱 · 电话号码 · 街道地址 · 出生日期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4A7DEAD6-D362-4AD8-AF17-0E960D8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16752"/>
            <a:ext cx="10908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>
            <a:solidFill>
              <a:srgbClr val="EEF3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D1C2DBC-3CBF-4BEB-85EF-6F0C519E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71616"/>
            <a:ext cx="10497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统一数据规模与字段类型，便于比较两种缓存可读方案的恢复能力。</a:t>
            </a:r>
            <a:endParaRPr sz="94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F7D03BC-5B5E-45D9-975E-D97E83F9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5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758815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7BD1933-36B9-445B-B6EC-279724E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方法一 / 结果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5CD330B-8A8F-48E0-B81F-AED27620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方法一｜实验结果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F87F68-2153-433F-84A8-85652782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四种隐私场景，每个场景 200 个样本，共 800 个样本。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8C2872-93E4-428D-98D1-6A6BE86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D69A2-81D8-4F88-8E08-B0602524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1D6432-FE05-49D6-9980-DB71E79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4B8137-6A8D-45CA-8AE4-1979A1E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4 类场景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B0AB370-24EF-4B8E-B5DA-7AAE846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医疗 · 金融 · 人事 · 身份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3D75942-5A57-499C-8186-91A5E8A5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80A9C77-D0F2-4A5C-9135-DF75164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9461CB-2439-45B9-8B68-9B252FE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800 样本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7CD1C1-1DF8-445B-B517-73353BD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每场景 200 条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0AEE104-6F0E-4B65-ADED-4E86F72C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A7500D5-EA6C-49F7-9C73-545127D9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F1D3C6-F939-4C34-B762-CDB04036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逐 token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9EAE358-3141-4F08-AB54-F0092FE7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公共 KV 重构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6C38865-0E69-45A0-A806-712ACFA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88920"/>
            <a:ext cx="10927080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8F0BEB-BA38-40AD-A2A4-63BB214B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9232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结果展示</a:t>
            </a:r>
            <a:endParaRPr sz="12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FAB9D54-BDE6-4619-8CA3-46F4860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3008"/>
            <a:ext cx="103327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4754AC4-8097-4D86-9240-238E6ED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03327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37A6CD-D8CB-4A3E-A113-2EAE4146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6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005212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85943801-06BC-4D57-B5AD-1034E8B18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e64763a6e4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3A5C5E-58C3-45C9-A9EB-1548A210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7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410057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9E0077C7-51F2-4939-BDBA-901B8899B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935ac7f3849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7242AFA-9074-46ED-8CA5-A008F1F6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27648"/>
            <a:ext cx="105613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8890">
            <a:solidFill>
              <a:srgbClr val="F0D9A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A2445C-7D65-4BBA-8774-0A41994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6382512"/>
            <a:ext cx="10104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1">
                <a:solidFill>
                  <a:srgbClr val="9A5A10"/>
                </a:solidFill>
                <a:latin typeface="Noto Sans CJK SC"/>
                <a:ea typeface="Noto Sans CJK SC"/>
                <a:cs typeface="Noto Sans CJK SC"/>
              </a:rPr>
              <a:t>当前实现：先计算 ΔK，再由问题 Query 评分并归一化；不使用图中“两组权重相减”的实现。</a:t>
            </a:r>
            <a:endParaRPr sz="930" b="1">
              <a:solidFill>
                <a:srgbClr val="9A5A1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8D6FB93-7E01-4603-821B-2C71962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8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706203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B68B1B5-FBDD-4614-B9A4-C5D474B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方法二 / 数据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0FB6A9-6FA6-4C83-890F-45DFF6F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方法二｜数据集配置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169D20-0310-49A2-83B6-C368111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沿用与方法一一致的四类场景和 800 条记录，保持横向可比性。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EB4F37-C799-4DAF-A7F7-214F4463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255588-9037-4325-B0EB-97ADB792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731520"/>
            <a:ext cx="260604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4 场景 · 800 条 · 16 类隐私字段</a:t>
            </a:r>
            <a:endParaRPr sz="93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E5E89B-4694-4C34-A0D9-99F75747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143000"/>
            <a:ext cx="2697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与方法一使用同一批数据</a:t>
            </a:r>
            <a:endParaRPr sz="90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B29FF57-EEA5-4C4E-89D9-7C222C5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B94B61C-8096-48FC-9EF2-24A7EC9C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206EE81-F03D-4030-A6DE-CED6C839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7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医疗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13A49C-8C82-451F-A887-AD0E290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039111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D064B5-546E-4069-8B80-69D432E2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0487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DB7933-327E-42C6-B03F-C3A18B6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4327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1CB3CE0-A53A-4EF5-B660-4BE84E87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8647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诊断 · 用药名称 · 过敏物质 · 诊断日期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6FB1F33-3102-4CDD-B4BD-33FF4AD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874519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EF5B224-E2EA-4F6A-B08B-82D8315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874519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99F82B8-A35F-4949-9E95-D8D8C1FD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075687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solidFill>
              <a:srgbClr val="397B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银行金融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96676CB-D749-4EB0-B4F4-510552E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039111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397BC0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397B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C8E4D0-898F-48B8-842E-707A2FE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2404871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4A3CF78-76EB-45D7-85B9-4377E24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624327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D36BAC5-FEC4-45D3-AA8A-767F14D3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898647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转账金额 · 收款人姓名 · 月收入 · 银行账号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568A90E-356C-4B93-85D4-BFDB3A4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007BDE8-6FA7-47B9-A654-B9DF1676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B1EFF5C-8E51-4460-A5E9-31673A64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42816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企业人事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19C59BC-7257-4D2A-8D4F-F8F221D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206240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7254C7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7254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20B757C-9A42-4A40-825D-2843C215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57200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AE9CFD7-32FC-49E4-8E43-C2F50657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456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35C3DD0-962D-49DC-9193-2B0EDCC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5776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月薪 · 绩效等级 · 离职日期 · 离职原因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A5775FE-C437-41DD-968D-4008C41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41648"/>
            <a:ext cx="5349240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001099AB-8596-41FB-B914-6A5AEDF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41648"/>
            <a:ext cx="118872" cy="1737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F5375DEA-3D27-4501-A694-94A399E7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242816"/>
            <a:ext cx="105156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solidFill>
              <a:srgbClr val="E89B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4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个人身份</a:t>
            </a:r>
            <a:endParaRPr sz="94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3F08404-2585-4A10-BDA8-8FC49D1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206240"/>
            <a:ext cx="9601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000" b="1">
                <a:solidFill>
                  <a:srgbClr val="E89B36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2000" b="1">
              <a:solidFill>
                <a:srgbClr val="E89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CDD274C-F08B-4AC7-B32A-FF75064E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712" y="457200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条记录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9CB5488-CC63-4EDD-8550-05687923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791456"/>
            <a:ext cx="46817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隐私目标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4660C2-ED49-45E5-BD97-2073ADEF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065776"/>
            <a:ext cx="4645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1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邮箱 · 电话号码 · 街道地址 · 出生日期</a:t>
            </a:r>
            <a:endParaRPr sz="111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FF0F99F9-5520-477B-80AA-D6A83720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16752"/>
            <a:ext cx="1090879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>
            <a:solidFill>
              <a:srgbClr val="EEF3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2CA99E2-FC26-4729-8775-549EF72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071616"/>
            <a:ext cx="104973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统一数据规模与字段类型，便于比较两种缓存可读方案的恢复能力。</a:t>
            </a:r>
            <a:endParaRPr sz="94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F073069-965B-481F-900F-C04737C3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9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437988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6F11EA32-326F-4680-9F0B-B4E8C80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方法二 / 结果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A9A0D35-8924-4B23-A4AC-5FB5A061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方法二｜实验结果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9DB114-C62C-4998-AB1C-80376EE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恢复分、完全匹配（EM）与语义相似度（CS）三类指标。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C050D33-2AD7-415C-B7C4-EC7DD18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7C62B1-A994-437F-B777-FB7A9F6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EFA83F-60F7-4913-BA31-A76E20DF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2BF4E2-A0D2-4ED1-B912-ACF637D7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恢复分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221A33-F80A-47B7-89C1-497BE87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字段恢复完整度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E278D4B-03D5-48D3-9DB1-9F182368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7EE2715-AACE-44C3-AD65-B85E489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943FECA-D98A-4C73-BF97-13B09C74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EM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86D3E0-BD45-4951-856E-5AB4D9B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Exact Match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A73B936-5A94-4922-AFAB-AB6F1967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828800"/>
            <a:ext cx="1965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05F6666-6FE6-4095-B600-594DF1A8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828800"/>
            <a:ext cx="73152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FEB20D-ED72-43DC-9676-94DA5C4F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920240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CS</a:t>
            </a:r>
            <a:endParaRPr sz="13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8A0C978-EC30-417B-A457-D2A4E03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16712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语义相似度</a:t>
            </a:r>
            <a:endParaRPr sz="9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F3935C4-014F-42B0-B9EB-C02D97AD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88920"/>
            <a:ext cx="10927080" cy="3154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0A2F0D-1B53-4236-B52F-FA8A3EF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9232"/>
            <a:ext cx="1965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结果展示</a:t>
            </a:r>
            <a:endParaRPr sz="12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455E46F-CFC1-4B9F-B2E9-D39F2227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3008"/>
            <a:ext cx="103327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1DA957-9327-4541-A3A0-E95E71EA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9160"/>
            <a:ext cx="1033272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32F59E7-8927-4880-9A77-780C897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35043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72D0B35B-1A4A-41E1-A172-AF217A0408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75ac6821942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DC4D630-7D95-4617-97EF-3D5A5B67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874192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441AD897-5A9D-495B-8B6C-00EDB757FA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538de0a28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81597B-AFCA-4005-ACBA-B2FF42F2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6320441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4D7C4D0-73BA-4707-959E-8B976EDD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E59"/>
          </a:solidFill>
          <a:ln xmlns:a="http://schemas.openxmlformats.org/drawingml/2006/main">
            <a:solidFill>
              <a:srgbClr val="C84E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方法三 / 数据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4DC165-BFB8-422D-900B-9F4EA0DE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方案三｜数据集配置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94FB6C5-535C-403F-9A4A-52D5C549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Synthea 合成医疗记录，共 2328 位独立患者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DFB1E1E-BD2F-44A0-91E8-E2EDB3C9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9DCC5C4-BFE7-466F-B575-F59A5084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731520"/>
            <a:ext cx="2057400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E59"/>
          </a:solidFill>
          <a:ln xmlns:a="http://schemas.openxmlformats.org/drawingml/2006/main">
            <a:solidFill>
              <a:srgbClr val="C84E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2328 位独立患者</a:t>
            </a:r>
            <a:endParaRPr sz="9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4F36A2-2531-4ADE-B912-95FA37E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4754880" cy="40965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9124978-E431-43F9-B1D0-1C8280E2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93392"/>
            <a:ext cx="20116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患者划分</a:t>
            </a:r>
            <a:endParaRPr sz="14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0FB07A6-2ECE-4D04-A232-3E061886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23127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FABEE8B-14A3-442F-8393-D9D3A19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382" y="2487168"/>
            <a:ext cx="180680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CBB4731-18F7-4AA8-979B-3440DAAF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186" y="2487168"/>
            <a:ext cx="3613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EB50B6-89A1-4713-9E6A-B71D4971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546" y="2487168"/>
            <a:ext cx="1806804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FB8E8AE-A5B0-4187-ACF0-E0FD9149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7248"/>
            <a:ext cx="868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solidFill>
              <a:srgbClr val="397B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开发集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3B160C1-9C9D-4320-B37E-CB350702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108960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97BC0"/>
                </a:solidFill>
                <a:latin typeface="Noto Sans CJK SC"/>
                <a:ea typeface="Noto Sans CJK SC"/>
                <a:cs typeface="Noto Sans CJK SC"/>
              </a:rPr>
              <a:t>128</a:t>
            </a:r>
            <a:endParaRPr sz="1500" b="1">
              <a:solidFill>
                <a:srgbClr val="397BC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D94B211-46C1-4B77-88FA-FA42C8B1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154679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位患者</a:t>
            </a:r>
            <a:endParaRPr sz="90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E9079AE-4B0E-4222-A44F-6B0CC9D1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1608"/>
            <a:ext cx="868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训练集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CB7F64-534A-464B-842E-1E606162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703320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1000</a:t>
            </a:r>
            <a:endParaRPr sz="150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8ADCA7-C6B3-437E-83AD-3677E70E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74904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位患者</a:t>
            </a:r>
            <a:endParaRPr sz="90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8FFEC67-7084-40B1-BC6D-665DFEC2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5968"/>
            <a:ext cx="868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验证集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9CB7070-3AAD-4845-8840-6CBC46D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297680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7254C7"/>
                </a:solidFill>
                <a:latin typeface="Noto Sans CJK SC"/>
                <a:ea typeface="Noto Sans CJK SC"/>
                <a:cs typeface="Noto Sans CJK SC"/>
              </a:rPr>
              <a:t>200</a:t>
            </a:r>
            <a:endParaRPr sz="1500" b="1">
              <a:solidFill>
                <a:srgbClr val="7254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3C9A098-C912-4E6A-AFD6-4E3C9706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34340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位患者</a:t>
            </a:r>
            <a:endParaRPr sz="90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BDA2B77F-1284-402A-8FC5-DEF3F02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0328"/>
            <a:ext cx="868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solidFill>
              <a:srgbClr val="E89B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测试集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EC8E6C-2312-4C22-A8B5-C15EF00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892040"/>
            <a:ext cx="960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E89B36"/>
                </a:solidFill>
                <a:latin typeface="Noto Sans CJK SC"/>
                <a:ea typeface="Noto Sans CJK SC"/>
                <a:cs typeface="Noto Sans CJK SC"/>
              </a:rPr>
              <a:t>1000</a:t>
            </a:r>
            <a:endParaRPr sz="1500" b="1">
              <a:solidFill>
                <a:srgbClr val="E89B3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7EFAC2E-6961-4448-BDAA-1612866F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93776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位患者</a:t>
            </a:r>
            <a:endParaRPr sz="90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9FC0A0B-7317-4AFD-9F54-E7AE5B4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504688"/>
            <a:ext cx="3886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2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各划分患者互不重叠</a:t>
            </a:r>
            <a:endParaRPr sz="102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2F124A7-5265-422E-916A-86558A2F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568" y="1828800"/>
            <a:ext cx="5596128" cy="40965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499917E-9D6F-423C-A46F-C84B543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93392"/>
            <a:ext cx="2194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隐私字段</a:t>
            </a:r>
            <a:endParaRPr sz="14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012E9C0B-E3A5-42EB-AA37-C6F6B3D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7168"/>
            <a:ext cx="504748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350">
            <a:solidFill>
              <a:srgbClr val="EEF2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FB91ABC-4DA2-43C9-BFB3-A4C943E6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2606040"/>
            <a:ext cx="941832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38B86"/>
          </a:solidFill>
          <a:ln xmlns:a="http://schemas.openxmlformats.org/drawingml/2006/main">
            <a:solidFill>
              <a:srgbClr val="138B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姓名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15507AB-E8EA-44D7-8AA9-1F7F8403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560320"/>
            <a:ext cx="358444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去除数字编号后的自然姓名</a:t>
            </a:r>
            <a:endParaRPr sz="100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2A05D8C-FF22-49F7-B297-95879DD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504748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350">
            <a:solidFill>
              <a:srgbClr val="EEF2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C77AF20-7DCC-43B3-B8D9-AFD50D33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319272"/>
            <a:ext cx="941832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7BC0"/>
          </a:solidFill>
          <a:ln xmlns:a="http://schemas.openxmlformats.org/drawingml/2006/main">
            <a:solidFill>
              <a:srgbClr val="397BC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出生日期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19997C5-B516-41C8-8DC0-9689D812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273552"/>
            <a:ext cx="358444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完整的年、月、日</a:t>
            </a:r>
            <a:endParaRPr sz="100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41B218D8-2743-4D58-8695-FFF8E54C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13632"/>
            <a:ext cx="504748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350">
            <a:solidFill>
              <a:srgbClr val="EEF2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16F93F96-ADED-48EA-9ABC-FFA8B1BE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4032504"/>
            <a:ext cx="941832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9B36"/>
          </a:solidFill>
          <a:ln xmlns:a="http://schemas.openxmlformats.org/drawingml/2006/main">
            <a:solidFill>
              <a:srgbClr val="E89B3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家庭地址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AC93626-68CE-446C-8596-2185A352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3986784"/>
            <a:ext cx="358444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街道、门牌号及原有单元号</a:t>
            </a:r>
            <a:endParaRPr sz="100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2D4AB147-F7E3-4D30-9498-46E618B3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6864"/>
            <a:ext cx="504748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350">
            <a:solidFill>
              <a:srgbClr val="EEF2F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E526CE95-16CE-4A64-A96F-A850F40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4745736"/>
            <a:ext cx="941832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254C7"/>
          </a:solidFill>
          <a:ln xmlns:a="http://schemas.openxmlformats.org/drawingml/2006/main">
            <a:solidFill>
              <a:srgbClr val="7254C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</a:t>
            </a:r>
            <a:endParaRPr sz="88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6A93D9-106D-48C3-8F34-1C3DC9D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700016"/>
            <a:ext cx="358444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25384A"/>
                </a:solidFill>
                <a:latin typeface="Noto Sans CJK SC"/>
                <a:ea typeface="Noto Sans CJK SC"/>
                <a:cs typeface="Noto Sans CJK SC"/>
              </a:rPr>
              <a:t>原始英文诊断描述</a:t>
            </a:r>
            <a:endParaRPr sz="1000" b="0">
              <a:solidFill>
                <a:srgbClr val="2538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2388FC24-4974-4F1D-8F5E-AD8564FC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44768"/>
            <a:ext cx="10625328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>
            <a:solidFill>
              <a:srgbClr val="EEF3F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FE00F2C-DA53-47AF-B10C-4DB0B8A7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6190488"/>
            <a:ext cx="10149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保留原有英文内容，不进行翻译；患者划分互不重叠。</a:t>
            </a:r>
            <a:endParaRPr sz="93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CAC129D-79C4-4409-B4B6-89420A6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770903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D9E4CD0B-0685-4D87-8348-BC573D9D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56032"/>
            <a:ext cx="1234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E59"/>
          </a:solidFill>
          <a:ln xmlns:a="http://schemas.openxmlformats.org/drawingml/2006/main">
            <a:solidFill>
              <a:srgbClr val="C84E5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0" rIns="4572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方法三 / 结果</a:t>
            </a:r>
            <a:endParaRPr sz="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0FD22F0-9F68-4EF2-A5A7-219BD66C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方法三｜实验结果</a:t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C3BBBC4-9780-48B4-8B51-24C26C40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姓名、出生日期、家庭地址与诊断四类字段的恢复表现</a:t>
            </a:r>
            <a:endParaRPr sz="12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A5BF90-9549-4ACC-9AF5-ECF36CC3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81328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5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859656B-C27C-4091-AE4F-5547F347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83080"/>
            <a:ext cx="1965960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F015CC8-F743-4499-86A0-43BBFEB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920240"/>
            <a:ext cx="1508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Overall EM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9F2A4C-BE69-4206-95B9-086CE40C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139696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C84E59"/>
                </a:solidFill>
                <a:latin typeface="Noto Sans CJK SC"/>
                <a:ea typeface="Noto Sans CJK SC"/>
                <a:cs typeface="Noto Sans CJK SC"/>
              </a:rPr>
              <a:t>37.95%</a:t>
            </a:r>
            <a:endParaRPr sz="2000" b="1">
              <a:solidFill>
                <a:srgbClr val="C84E5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FE4812C-3FC8-4030-89B2-10113EA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597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完全匹配率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F41B7C3-A3C9-4828-B0C0-93F3315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1965960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8E3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991B7C-D2ED-426B-B415-590B41F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5087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Overall IRS</a:t>
            </a:r>
            <a:endParaRPr sz="950" b="1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2D3815-6D16-4F9A-934D-9D1619E2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139696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38B86"/>
                </a:solidFill>
                <a:latin typeface="Noto Sans CJK SC"/>
                <a:ea typeface="Noto Sans CJK SC"/>
                <a:cs typeface="Noto Sans CJK SC"/>
              </a:rPr>
              <a:t>83.40</a:t>
            </a:r>
            <a:endParaRPr sz="2000" b="1">
              <a:solidFill>
                <a:srgbClr val="138B8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3C3AE0F-9DD8-4CD7-B2D5-2E7B2D2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4597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信息恢复分</a:t>
            </a:r>
            <a:endParaRPr sz="850" b="0">
              <a:solidFill>
                <a:srgbClr val="6F7E8C"/>
              </a:solidFill>
              <a:latin typeface="Noto Sans CJK SC"/>
              <a:ea typeface="Noto Sans CJK SC"/>
              <a:cs typeface="Noto Sans CJK SC"/>
            </a:endParaRPr>
          </a:p>
        </p:txBody>
      </p:sp>
      <p:graphicFrame>
        <p:nvGraphicFramePr>
          <p:cNvPr id="14" name="Table 13">
            <a:extLst xmlns:a="http://schemas.openxmlformats.org/drawingml/2006/main">
              <a:ext uri="{FF2B5EF4-FFF2-40B4-BE49-F238E27FC236}">
                <a16:creationId xmlns:a16="http://schemas.microsoft.com/office/drawing/2014/main" id="{B29BA3C8-A92F-4BD9-AFB3-C660ACEFA4A5}"/>
              </a:ext>
            </a:extLst>
          </p:cNvPr>
          <p:cNvGraphicFramePr/>
          <p:nvPr/>
        </p:nvGraphicFramePr>
        <p:xfrm>
          <a:off xmlns:a="http://schemas.openxmlformats.org/drawingml/2006/main" x="658368" y="2999232"/>
          <a:ext xmlns:a="http://schemas.openxmlformats.org/drawingml/2006/main" cx="10607040" cy="2926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926080"/>
                <a:gridCol w="3566160"/>
              </a:tblGrid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3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字段</a:t>
                      </a:r>
                      <a:endParaRPr sz="113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3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Exact Match</a:t>
                      </a:r>
                      <a:endParaRPr sz="113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3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IRS 信息恢复分</a:t>
                      </a:r>
                      <a:endParaRPr sz="113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16324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Name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42.3%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90.32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Birth Date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22.0%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69.93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Address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58.9%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94.92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Diagnosis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28.6%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2538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78.42</a:t>
                      </a:r>
                      <a:endParaRPr sz="1150" b="0">
                        <a:solidFill>
                          <a:srgbClr val="2538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4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Overall</a:t>
                      </a:r>
                      <a:endParaRPr sz="1150" b="1">
                        <a:solidFill>
                          <a:srgbClr val="16324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5F1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37.95%</a:t>
                      </a:r>
                      <a:endParaRPr sz="1150" b="1">
                        <a:solidFill>
                          <a:srgbClr val="16324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5F1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83.40</a:t>
                      </a:r>
                      <a:endParaRPr sz="1150" b="1">
                        <a:solidFill>
                          <a:srgbClr val="16324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1440" marR="73152" marT="36576" marB="27432" anchor="ctr">
                    <a:solidFill>
                      <a:srgbClr val="F5F1F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ACBD69-B55E-46CD-8CA3-83CBB72D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794A1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850" b="0">
              <a:solidFill>
                <a:srgbClr val="8794A1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002624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DA2DEBE-B0A6-4749-9EAA-5DA1608C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804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1C84F33-A131-491A-B305-38F4DD87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1052195"/>
            <a:ext cx="618934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750C8E27-7413-46B8-80B1-9C0CAA27A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6976121b4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362075"/>
            <a:ext cx="11277600" cy="4697730"/>
          </a:xfrm>
          <a:prstGeom xmlns:a="http://schemas.openxmlformats.org/drawingml/2006/main" prst="rect">
            <a:avLst/>
          </a:prstGeom>
        </p:spPr>
      </p:pic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1BAD8A0-221A-41F3-900E-B0AAFF4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45" y="6197600"/>
            <a:ext cx="1046924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2" name="related-section">
            <a:extLst xmlns:a="http://schemas.openxmlformats.org/drawingml/2006/main">
              <a:ext uri="{FF2B5EF4-FFF2-40B4-BE49-F238E27FC236}">
                <a16:creationId xmlns:a16="http://schemas.microsoft.com/office/drawing/2014/main" id="{6FEF9110-432D-4997-888D-D356E5A2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6225"/>
            <a:ext cx="10791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rPr>
              <a:t>相关工作 / 研究定位</a:t>
            </a:r>
          </a:p>
        </p:txBody>
      </p:sp>
      <p:sp>
        <p:nvSpPr>
          <p:cNvPr id="23" name="related-title">
            <a:extLst xmlns:a="http://schemas.openxmlformats.org/drawingml/2006/main">
              <a:ext uri="{FF2B5EF4-FFF2-40B4-BE49-F238E27FC236}">
                <a16:creationId xmlns:a16="http://schemas.microsoft.com/office/drawing/2014/main" id="{03C81C24-5370-4E83-A80A-663A9BF3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相关工作与本研究定位</a:t>
            </a:r>
          </a:p>
        </p:txBody>
      </p:sp>
      <p:sp>
        <p:nvSpPr>
          <p:cNvPr id="24" name="related-subtitle">
            <a:extLst xmlns:a="http://schemas.openxmlformats.org/drawingml/2006/main">
              <a:ext uri="{FF2B5EF4-FFF2-40B4-BE49-F238E27FC236}">
                <a16:creationId xmlns:a16="http://schemas.microsoft.com/office/drawing/2014/main" id="{F7D656D0-E235-4A04-A0BD-3C84DE1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三项相关工作与本研究的观察对象、攻击目标</a:t>
            </a:r>
          </a:p>
        </p:txBody>
      </p:sp>
      <p:sp>
        <p:nvSpPr>
          <p:cNvPr id="25" name="related-page-number">
            <a:extLst xmlns:a="http://schemas.openxmlformats.org/drawingml/2006/main">
              <a:ext uri="{FF2B5EF4-FFF2-40B4-BE49-F238E27FC236}">
                <a16:creationId xmlns:a16="http://schemas.microsoft.com/office/drawing/2014/main" id="{5E859BA1-B7F0-4EED-B0AC-C510E2B1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26" name="research-position">
            <a:extLst xmlns:a="http://schemas.openxmlformats.org/drawingml/2006/main">
              <a:ext uri="{FF2B5EF4-FFF2-40B4-BE49-F238E27FC236}">
                <a16:creationId xmlns:a16="http://schemas.microsoft.com/office/drawing/2014/main" id="{2E4FE179-2706-434A-8A4A-6ED29910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8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本工作研究在私有原文及其对应隐藏状态、KV均不可访问，仅共享公共文本位置KV的条件下，注意力引入的上下文依赖是否仍会导致私有信息泄露及其边界。</a:t>
            </a:r>
          </a:p>
        </p:txBody>
      </p:sp>
    </p:spTree>
    <p:extLst>
      <p:ext uri="{BB962C8B-B14F-4D97-AF65-F5344CB8AC3E}">
        <p14:creationId xmlns:p14="http://schemas.microsoft.com/office/powerpoint/2010/main" val="1399171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A81A6CC-EB2D-407C-81D3-A792256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0804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sz="2700" b="1">
              <a:solidFill>
                <a:srgbClr val="16324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CEE3F60-8BCF-4BE6-B5CC-25AF6F5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" y="1052195"/>
            <a:ext cx="618934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2E0204E-9E30-47BB-B14A-D8C3BF0B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70" y="1772285"/>
            <a:ext cx="7842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8" name="related-section">
            <a:extLst xmlns:a="http://schemas.openxmlformats.org/drawingml/2006/main">
              <a:ext uri="{FF2B5EF4-FFF2-40B4-BE49-F238E27FC236}">
                <a16:creationId xmlns:a16="http://schemas.microsoft.com/office/drawing/2014/main" id="{3274247E-27A9-4D6C-9034-17C027D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6225"/>
            <a:ext cx="10791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rPr>
              <a:t>相关工作 / KV-Repurpose</a:t>
            </a:r>
          </a:p>
        </p:txBody>
      </p:sp>
      <p:sp>
        <p:nvSpPr>
          <p:cNvPr id="19" name="related-title">
            <a:extLst xmlns:a="http://schemas.openxmlformats.org/drawingml/2006/main">
              <a:ext uri="{FF2B5EF4-FFF2-40B4-BE49-F238E27FC236}">
                <a16:creationId xmlns:a16="http://schemas.microsoft.com/office/drawing/2014/main" id="{BB246AAA-2D09-4E7F-91B9-EA5856F5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KV-Repurpose：系统目标与隐私观察</a:t>
            </a:r>
          </a:p>
        </p:txBody>
      </p:sp>
      <p:sp>
        <p:nvSpPr>
          <p:cNvPr id="20" name="related-subtitle">
            <a:extLst xmlns:a="http://schemas.openxmlformats.org/drawingml/2006/main">
              <a:ext uri="{FF2B5EF4-FFF2-40B4-BE49-F238E27FC236}">
                <a16:creationId xmlns:a16="http://schemas.microsoft.com/office/drawing/2014/main" id="{A62C0924-C6E1-4825-B276-B8BFBFA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78992"/>
            <a:ext cx="107899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5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KV-Repurpose: A Testbed for Evaluating Non-Prefix KV-Cache Reuse</a:t>
            </a:r>
          </a:p>
        </p:txBody>
      </p:sp>
      <p:sp>
        <p:nvSpPr>
          <p:cNvPr id="21" name="related-page-number">
            <a:extLst xmlns:a="http://schemas.openxmlformats.org/drawingml/2006/main">
              <a:ext uri="{FF2B5EF4-FFF2-40B4-BE49-F238E27FC236}">
                <a16:creationId xmlns:a16="http://schemas.microsoft.com/office/drawing/2014/main" id="{6530CB7C-D66D-4C36-8972-61BBCF2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28816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22" name="systems-label">
            <a:extLst xmlns:a="http://schemas.openxmlformats.org/drawingml/2006/main">
              <a:ext uri="{FF2B5EF4-FFF2-40B4-BE49-F238E27FC236}">
                <a16:creationId xmlns:a16="http://schemas.microsoft.com/office/drawing/2014/main" id="{7D1EC2D0-C616-4134-B98E-CDCFF90A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28E8B"/>
                </a:solidFill>
                <a:latin typeface="Noto Sans CJK SC"/>
                <a:ea typeface="Noto Sans CJK SC"/>
                <a:cs typeface="Noto Sans CJK SC"/>
              </a:rPr>
              <a:t>系统优化目标</a:t>
            </a:r>
          </a:p>
        </p:txBody>
      </p:sp>
      <p:sp>
        <p:nvSpPr>
          <p:cNvPr id="23" name="systems-question">
            <a:extLst xmlns:a="http://schemas.openxmlformats.org/drawingml/2006/main">
              <a:ext uri="{FF2B5EF4-FFF2-40B4-BE49-F238E27FC236}">
                <a16:creationId xmlns:a16="http://schemas.microsoft.com/office/drawing/2014/main" id="{4CB52B0B-C322-4B50-B623-4EA2DA3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当相同文档出现在不同请求的非前缀位置时，能否直接复用其KV，减少重复Prefill计算与缓存存储？</a:t>
            </a:r>
          </a:p>
        </p:txBody>
      </p:sp>
      <p:sp>
        <p:nvSpPr>
          <p:cNvPr id="24" name="implementation-label">
            <a:extLst xmlns:a="http://schemas.openxmlformats.org/drawingml/2006/main">
              <a:ext uri="{FF2B5EF4-FFF2-40B4-BE49-F238E27FC236}">
                <a16:creationId xmlns:a16="http://schemas.microsoft.com/office/drawing/2014/main" id="{96463395-5F7C-4688-B79C-2F815034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系统实现与研究重点</a:t>
            </a:r>
          </a:p>
        </p:txBody>
      </p:sp>
      <p:sp>
        <p:nvSpPr>
          <p:cNvPr id="25" name="implementation-detail">
            <a:extLst xmlns:a="http://schemas.openxmlformats.org/drawingml/2006/main">
              <a:ext uri="{FF2B5EF4-FFF2-40B4-BE49-F238E27FC236}">
                <a16:creationId xmlns:a16="http://schemas.microsoft.com/office/drawing/2014/main" id="{305FD349-B813-47FD-962C-DB885FF4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论文设计了基于vLLM的非前缀KV复用系统，研究重点是大模型推理系统优化。</a:t>
            </a:r>
          </a:p>
        </p:txBody>
      </p:sp>
      <p:sp>
        <p:nvSpPr>
          <p:cNvPr id="26" name="appendix-label">
            <a:extLst xmlns:a="http://schemas.openxmlformats.org/drawingml/2006/main">
              <a:ext uri="{FF2B5EF4-FFF2-40B4-BE49-F238E27FC236}">
                <a16:creationId xmlns:a16="http://schemas.microsoft.com/office/drawing/2014/main" id="{047CAC13-7AF8-4AC3-9669-A5903DD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601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16A32"/>
                </a:solidFill>
                <a:latin typeface="Noto Sans CJK SC"/>
                <a:ea typeface="Noto Sans CJK SC"/>
                <a:cs typeface="Noto Sans CJK SC"/>
              </a:rPr>
              <a:t>附录A.2：公共KV中的隐私观察</a:t>
            </a:r>
          </a:p>
        </p:txBody>
      </p:sp>
      <p:sp>
        <p:nvSpPr>
          <p:cNvPr id="27" name="appendix-observation">
            <a:extLst xmlns:a="http://schemas.openxmlformats.org/drawingml/2006/main">
              <a:ext uri="{FF2B5EF4-FFF2-40B4-BE49-F238E27FC236}">
                <a16:creationId xmlns:a16="http://schemas.microsoft.com/office/drawing/2014/main" id="{1C2BB19A-865C-4045-B260-45733421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601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6324F"/>
                </a:solidFill>
                <a:latin typeface="Noto Sans CJK SC"/>
                <a:ea typeface="Noto Sans CJK SC"/>
                <a:cs typeface="Noto Sans CJK SC"/>
              </a:rPr>
              <a:t>公共文档的KV可能保留前序私有信息。后续请求即使不含原始私有前缀，也可能输出其中的敏感内容。</a:t>
            </a:r>
          </a:p>
        </p:txBody>
      </p:sp>
      <p:graphicFrame>
        <p:nvGraphicFrame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67F47-C1AA-44DE-91BE-3D3FE6EFBAF1}"/>
              </a:ext>
            </a:extLst>
          </p:cNvPr>
          <p:cNvGraphicFramePr/>
          <p:nvPr/>
        </p:nvGraphicFramePr>
        <p:xfrm>
          <a:off xmlns:a="http://schemas.openxmlformats.org/drawingml/2006/main" x="5600700" y="3390900"/>
          <a:ext xmlns:a="http://schemas.openxmlformats.org/drawingml/2006/main" cx="6019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495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75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实验模型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E3F1"/>
                      </a:solidFill>
                      <a:prstDash val="solid"/>
                    </a:lnL>
                    <a:lnR w="9525">
                      <a:solidFill>
                        <a:srgbClr val="D5E3F1"/>
                      </a:solidFill>
                      <a:prstDash val="solid"/>
                    </a:lnR>
                    <a:lnT w="9525">
                      <a:solidFill>
                        <a:srgbClr val="D5E3F1"/>
                      </a:solidFill>
                      <a:prstDash val="solid"/>
                    </a:lnT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GPT-OSS-120B*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E3F1"/>
                      </a:solidFill>
                      <a:prstDash val="solid"/>
                    </a:lnR>
                    <a:lnT w="9525">
                      <a:solidFill>
                        <a:srgbClr val="D5E3F1"/>
                      </a:solidFill>
                      <a:prstDash val="solid"/>
                    </a:lnT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575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隐私数据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E3F1"/>
                      </a:solidFill>
                      <a:prstDash val="solid"/>
                    </a:lnL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100个常见姓氏</a:t>
                      </a:r>
                    </a:p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美国50个，日本50个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575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保留缓存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E3F1"/>
                      </a:solidFill>
                      <a:prstDash val="solid"/>
                    </a:lnL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仅保存公共片段KV，</a:t>
                      </a:r>
                    </a:p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不保留包含姓名的前缀KV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575" b="1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恢复方式</a:t>
                      </a:r>
                    </a:p>
                  </a:txBody>
                  <a:tcPr marL="133350" marR="133350" marT="76200" marB="76200" anchor="ctr">
                    <a:lnL w="9525">
                      <a:solidFill>
                        <a:srgbClr val="D5E3F1"/>
                      </a:solidFill>
                      <a:prstDash val="solid"/>
                    </a:lnL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不提供原始私有前缀，</a:t>
                      </a:r>
                    </a:p>
                    <a:p>
                      <a:r>
                        <a:rPr sz="1575" b="0">
                          <a:solidFill>
                            <a:srgbClr val="16324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复用公共KV并提问恢复姓名</a:t>
                      </a:r>
                    </a:p>
                  </a:txBody>
                  <a:tcPr marL="133350" marR="133350" marT="76200" marB="76200" anchor="ctr">
                    <a:lnR w="9525">
                      <a:solidFill>
                        <a:srgbClr val="D5E3F1"/>
                      </a:solidFill>
                      <a:prstDash val="solid"/>
                    </a:lnR>
                    <a:lnB w="9525">
                      <a:solidFill>
                        <a:srgbClr val="D5E3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model-caveat">
            <a:extLst xmlns:a="http://schemas.openxmlformats.org/drawingml/2006/main">
              <a:ext uri="{FF2B5EF4-FFF2-40B4-BE49-F238E27FC236}">
                <a16:creationId xmlns:a16="http://schemas.microsoft.com/office/drawing/2014/main" id="{3B531E47-CE23-41CE-A8FE-7B24AEC4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F7E8C"/>
                </a:solidFill>
                <a:latin typeface="Noto Sans CJK SC"/>
                <a:ea typeface="Noto Sans CJK SC"/>
                <a:cs typeface="Noto Sans CJK SC"/>
              </a:rPr>
              <a:t>*模型说明：论文整体使用GPT-OSS-120B，附录A.2未单独说明是否更换模型。</a:t>
            </a:r>
          </a:p>
        </p:txBody>
      </p:sp>
    </p:spTree>
    <p:extLst>
      <p:ext uri="{BB962C8B-B14F-4D97-AF65-F5344CB8AC3E}">
        <p14:creationId xmlns:p14="http://schemas.microsoft.com/office/powerpoint/2010/main" val="1160724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2026-10-18T15:52:57.7810000Z</dcterms:created>
  <dcterms:modified xsi:type="dcterms:W3CDTF">2026-10-18T15:52:57.7810000Z</dcterms:modified>
</coreProperties>
</file>
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60" r:id="rId7"/>
    <p:sldId id="262" r:id="rId8"/>
    <p:sldId id="263" r:id="rId9"/>
    <p:sldId id="265" r:id="rId10"/>
    <p:sldId id="266" r:id="rId11"/>
    <p:sldId id="267" r:id="rId12"/>
    <p:sldId id="268" r:id="rId13"/>
    <p:sldId id="270" r:id="rId14"/>
    <p:sldId id="272" r:id="rId15"/>
    <p:sldId id="273" r:id="rId16"/>
    <p:sldId id="274" r:id="rId17"/>
    <p:sldId id="275" r:id="rId18"/>
    <p:sldId id="276" r:id="rId19"/>
  </p:sldIdLst>
  <p:sldSz cx="12192000" cy="6858000"/>
  <p:notesSz cx="6858000" cy="9144000"/>
  <p:custDataLst>
    <p:tags r:id="rId23"/>
  </p:custDataLst>
  <p:defaultTextStyle>
    <a:lvl1pPr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3" Type="http://schemas.openxmlformats.org/officeDocument/2006/relationships/tags" Target="tags/tag2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研究进展汇报，2026-10-18。三种方法的实验结果由研究者另行补充，本稿不包含性能数值。</a:t>
            </a:r>
          </a:p>
          <a:p>
            <a:r>
              <a:t>Sources: D:/Stepby/kv-cache研究/kv_agent/kv_priv/README.md; D:/Stepby/kv-cache研究/kv_agent/kv_priv/威胁模型.md; D:/Stepby/kv-cache研究/medical_privacy_prompt/medical_kv/backend.py; medical_kv/tasks.py; medical_kv/training.py; configs/experiment_v4_name_birth_parts_no_negatives.json; configs/evaluation_name_birth_parts_overlap10.json; data/dataset_v1/manifest.json; data/dataset_diagnosis_overlap10/manifest.json</a:t>
            </a:r>
          </a:p>
          <a:p>
            <a:r>
              <a:t>Image: built-in image_gen conceptual illustration; not a photograph or system screenshot.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研究按公共缓存访问能力与公共文本控制能力划分。方法一/二可读取公共KV，方法二同时干预发送端公共输入。方法三目标仅控制引导文本，当前仍为软提示与受控复用原型。</a:t>
            </a:r>
          </a:p>
          <a:p>
            <a:r>
              <a:t>完整方案二：字段引导文本增强公共KV编码＋问题引导的差分加权重构＋注意力引导的软前缀位置更新。方法标识question_weighted_kv_contrastive_key_attention。S为私有记录，G为固定公共字段引导，P₀为原公共正文，P=G∥P₀。G依据允许的结构与定位知识构造，不包含目标答案；该知识属于额外先验，不能宣称只依赖公开问题。发送端处理S+G+P₀，仅导出G与P₀对应位置KV。相同位置偏移的纯净参照仅处理G+P₀。接收端处理Uθ+G+P₀，Uθ替代未知私有前文。训练只更新每条记录独立的Uθ，G与模型权重固定。</a:t>
            </a:r>
          </a:p>
          <a:p>
            <a:r>
              <a:t>引导是否实际使用取决于训练保存的缓存包。新版引导必须重新prepare，不能仅修改源文本后复用旧缓存或直接resume旧训练。800_guided_v3_zh_4gpu.json指向receiver_cache_800_guided_v3_zh。experiment_1.json当前仍指向receiver_cache_800；同一算法名不能证明缓存已含新版G。baseline_token_4gpu的缓存是否含引导，必须检查该次训练保存的缓存包，不能根据现在的源文本推断。</a:t>
            </a:r>
          </a:p>
          <a:p>
            <a:r>
              <a:t>Sources: D:/Stepby/kv-cache研究/kv_agent/kv_priv/trusted/samples_800/README.md; D:/Stepby/kv-cache研究/kv_agent/kv_priv/configs/800_guided_v3_zh_4gpu.json; D:/Stepby/kv-cache研究/kv_agent/kv_priv/configs/experiment_1.json; D:/Stepby/kv-cache研究/kv_agent/kv_priv/experiment/objectives.py; D:/Stepby/kv-cache研究/kv_agent/kv_priv/experiment/prefix_importance.py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方法一：逐token公共KV均方误差重建。方法三：在自有合成记录上监督学习跨患者共享软提示。方法二的完整链路如下。</a:t>
            </a:r>
          </a:p>
          <a:p>
            <a:r>
              <a:t>完整方案二：字段引导文本增强公共KV编码＋问题引导的差分加权重构＋注意力引导的软前缀位置更新。方法标识question_weighted_kv_contrastive_key_attention。S为私有记录，G为固定公共字段引导，P₀为原公共正文，P=G∥P₀。G依据允许的结构与定位知识构造，不包含目标答案；该知识属于额外先验，不能宣称只依赖公开问题。发送端处理S+G+P₀，仅导出G与P₀对应位置KV。相同位置偏移的纯净参照仅处理G+P₀。接收端处理Uθ+G+P₀，Uθ替代未知私有前文。训练只更新每条记录独立的Uθ，G与模型权重固定。</a:t>
            </a:r>
          </a:p>
          <a:p>
            <a:r>
              <a:t>每层公共位置ΔK=Kobs−Kclean；问题在观测公共KV和更早问题token条件下产生Query，以Q与ΔK的点积评分，温度1，softmax仅在公共位置归一化。问题token均匀平均，查询头聚合至KV头。w_j=0.1+0.9|P| ā_j。G与P₀采用同一差分权重规则，没有额外提高G位置的损失系数。L=Avg_{层、头、K/V}[Σ_j w_j MSE(KV^U_j,KVobs_j)/Σ_j w_j]，base_loss=none、lambda_base=0、lambda_weighted=1。注意力版位置更新综合公共权重×当前重构误差×公共位置对Uθ位置的注意力，给软前缀位置评分，缩放Adam实际更新位移；不添加注意力对齐损失。前400步普通更新，随后启用位置倍率，强度0.75，EMA衰减0。权重、位置评分和训练目标均不读取真实私有内容或答案。</a:t>
            </a:r>
          </a:p>
          <a:p>
            <a:r>
              <a:t>Sources: D:/Stepby/kv-cache研究/kv_agent/kv_priv/trusted/samples_800/README.md; D:/Stepby/kv-cache研究/kv_agent/kv_priv/configs/800_guided_v3_zh_4gpu.json; D:/Stepby/kv-cache研究/kv_agent/kv_priv/configs/experiment_1.json; D:/Stepby/kv-cache研究/kv_agent/kv_priv/experiment/objectives.py; D:/Stepby/kv-cache研究/kv_agent/kv_priv/experiment/prefix_importance.py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方法一逐token KV重建的威胁模型图。原图由用户提供，保持比例、完整画面和原始内容。</a:t>
            </a:r>
          </a:p>
          <a:p>
            <a:r>
              <a:t>Image source: D:\Stepby\kv-cache研究\medical_privacy_prompt\presentations\nonprefix_privacy_progress_20261018\ChatGPT 图像 2026年10月18日 21_26_20-1.png</a:t>
            </a:r>
          </a:p>
          <a:p>
            <a:r>
              <a:t>接收端只读取receiver_cache、冻结模型和训练状态；训练不读取私有原文、真实私有KV或目标答案。已知原私有前缀长度及位置偏移。真实私有记录和答案只在可信prepare/evaluate阶段使用。</a:t>
            </a:r>
          </a:p>
          <a:p>
            <a:r>
              <a:t>Sources: D:/Stepby/kv-cache研究/kv_agent/kv_priv/README.md; D:/Stepby/kv-cache研究/kv_agent/kv_priv/威胁模型.md; D:/Stepby/kv-cache研究/kv_agent/kv_priv/configs/baseline_token.json; D:/Stepby/kv-cache研究/kv_agent/kv_priv/experiment/backend.py (kv_losses); experiment/objectives.py (Objective.compute)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方法一逐token KV重建的方案设计图。原图由用户提供，保持比例、完整画面和原始内容。</a:t>
            </a:r>
          </a:p>
          <a:p>
            <a:r>
              <a:t>Image source: D:\Stepby\kv-cache研究\medical_privacy_prompt\presentations\nonprefix_privacy_progress_20261018\ChatGPT 图像 2026年10月18日 21_26_21-2.png</a:t>
            </a:r>
          </a:p>
          <a:p>
            <a:r>
              <a:t>Objective.compute的baseline选用base_loss=token，kv_losses对每层K和V的对应位置做均方误差并取均值。按样本优化软前缀，模型冻结；目标字段只在可信评估端评分。</a:t>
            </a:r>
          </a:p>
          <a:p>
            <a:r>
              <a:t>Sources: D:/Stepby/kv-cache研究/kv_agent/kv_priv/configs/baseline_token.json; D:/Stepby/kv-cache研究/kv_agent/kv_priv/experiment/backend.py (kv_losses); experiment/objectives.py (Objective.compute)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本页不包含实验性能数值。比较时需注明原始记录数、字段分布、优化预算和评估协议。</a:t>
            </a:r>
          </a:p>
          <a:p>
            <a:r>
              <a:t>Sources: D:/Stepby/kv-cache研究/kv_agent/kv_priv/configs/baseline_token.json; D:/Stepby/kv-cache研究/kv_agent/kv_priv/experiment/backend.py (kv_losses); experiment/objectives.py (Objective.compute)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方法二字段引导与公共缓存访问的威胁模型图。原图由用户提供，保持比例、完整画面和原始内容。</a:t>
            </a:r>
          </a:p>
          <a:p>
            <a:r>
              <a:t>Image source: D:\Stepby\kv-cache研究\medical_privacy_prompt\presentations\nonprefix_privacy_progress_20261018\ChatGPT 图像 2026年10月18日 21_26_23-3.png</a:t>
            </a:r>
          </a:p>
          <a:p>
            <a:r>
              <a:t>完整方案二：字段引导文本增强公共KV编码＋问题引导的差分加权重构＋注意力引导的软前缀位置更新。方法标识question_weighted_kv_contrastive_key_attention。S为私有记录，G为固定公共字段引导，P₀为原公共正文，P=G∥P₀。G依据允许的结构与定位知识构造，不包含目标答案；该知识属于额外先验，不能宣称只依赖公开问题。发送端处理S+G+P₀，仅导出G与P₀对应位置KV。相同位置偏移的纯净参照仅处理G+P₀。接收端处理Uθ+G+P₀，Uθ替代未知私有前文。训练只更新每条记录独立的Uθ，G与模型权重固定。</a:t>
            </a:r>
          </a:p>
          <a:p>
            <a:r>
              <a:t>每层公共位置ΔK=Kobs−Kclean；问题在观测公共KV和更早问题token条件下产生Query，以Q与ΔK的点积评分，温度1，softmax仅在公共位置归一化。问题token均匀平均，查询头聚合至KV头。w_j=0.1+0.9|P| ā_j。G与P₀采用同一差分权重规则，没有额外提高G位置的损失系数。L=Avg_{层、头、K/V}[Σ_j w_j MSE(KV^U_j,KVobs_j)/Σ_j w_j]，base_loss=none、lambda_base=0、lambda_weighted=1。注意力版位置更新综合公共权重×当前重构误差×公共位置对Uθ位置的注意力，给软前缀位置评分，缩放Adam实际更新位移；不添加注意力对齐损失。前400步普通更新，随后启用位置倍率，强度0.75，EMA衰减0。权重、位置评分和训练目标均不读取真实私有内容或答案。</a:t>
            </a:r>
          </a:p>
          <a:p>
            <a:r>
              <a:t>引导是否实际使用取决于训练保存的缓存包。新版引导必须重新prepare，不能仅修改源文本后复用旧缓存或直接resume旧训练。800_guided_v3_zh_4gpu.json指向receiver_cache_800_guided_v3_zh。experiment_1.json当前仍指向receiver_cache_800；同一算法名不能证明缓存已含新版G。baseline_token_4gpu的缓存是否含引导，必须检查该次训练保存的缓存包，不能根据现在的源文本推断。</a:t>
            </a:r>
          </a:p>
          <a:p>
            <a:r>
              <a:t>Sources: D:/Stepby/kv-cache研究/kv_agent/kv_priv/trusted/samples_800/README.md; D:/Stepby/kv-cache研究/kv_agent/kv_priv/configs/800_guided_v3_zh_4gpu.json; D:/Stepby/kv-cache研究/kv_agent/kv_priv/configs/experiment_1.json; D:/Stepby/kv-cache研究/kv_agent/kv_priv/experiment/objectives.py; D:/Stepby/kv-cache研究/kv_agent/kv_priv/experiment/prefix_importance.py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完整方案二：字段引导文本增强公共KV编码＋问题引导的差分加权重构＋注意力引导的软前缀位置更新。方法标识question_weighted_kv_contrastive_key_attention。S为私有记录，G为固定公共字段引导，P₀为原公共正文，P=G∥P₀。G依据允许的结构与定位知识构造，不包含目标答案；该知识属于额外先验，不能宣称只依赖公开问题。发送端处理S+G+P₀，仅导出G与P₀对应位置KV。相同位置偏移的纯净参照仅处理G+P₀。接收端处理Uθ+G+P₀，Uθ替代未知私有前文。训练只更新每条记录独立的Uθ，G与模型权重固定。</a:t>
            </a:r>
          </a:p>
          <a:p>
            <a:r>
              <a:t>G的字段策略：语义字段要求完整复制，号码、邮箱、金额逐字符定位与重组，日期按年、月、日提取与重组。不是把真实答案填入G。</a:t>
            </a:r>
          </a:p>
          <a:p>
            <a:r>
              <a:t>每层公共位置ΔK=Kobs−Kclean；问题在观测公共KV和更早问题token条件下产生Query，以Q与ΔK的点积评分，温度1，softmax仅在公共位置归一化。问题token均匀平均，查询头聚合至KV头。w_j=0.1+0.9|P| ā_j。G与P₀采用同一差分权重规则，没有额外提高G位置的损失系数。L=Avg_{层、头、K/V}[Σ_j w_j MSE(KV^U_j,KVobs_j)/Σ_j w_j]，base_loss=none、lambda_base=0、lambda_weighted=1。注意力版位置更新综合公共权重×当前重构误差×公共位置对Uθ位置的注意力，给软前缀位置评分，缩放Adam实际更新位移；不添加注意力对齐损失。前400步普通更新，随后启用位置倍率，强度0.75，EMA衰减0。权重、位置评分和训练目标均不读取真实私有内容或答案。</a:t>
            </a:r>
          </a:p>
          <a:p>
            <a:r>
              <a:t>引导是否实际使用取决于训练保存的缓存包。新版引导必须重新prepare，不能仅修改源文本后复用旧缓存或直接resume旧训练。800_guided_v3_zh_4gpu.json指向receiver_cache_800_guided_v3_zh。experiment_1.json当前仍指向receiver_cache_800；同一算法名不能证明缓存已含新版G。baseline_token_4gpu的缓存是否含引导，必须检查该次训练保存的缓存包，不能根据现在的源文本推断。</a:t>
            </a:r>
          </a:p>
          <a:p>
            <a:r>
              <a:t>Sources: D:/Stepby/kv-cache研究/kv_agent/kv_priv/trusted/samples_800/README.md; D:/Stepby/kv-cache研究/kv_agent/kv_priv/configs/800_guided_v3_zh_4gpu.json; D:/Stepby/kv-cache研究/kv_agent/kv_priv/configs/experiment_1.json; D:/Stepby/kv-cache研究/kv_agent/kv_priv/experiment/objectives.py; D:/Stepby/kv-cache研究/kv_agent/kv_priv/experiment/prefix_importance.py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方法二字段引导、差分加权重构与注意力位置更新的方案设计图。原图由用户提供，保持比例、完整画面和原始内容。</a:t>
            </a:r>
          </a:p>
          <a:p>
            <a:r>
              <a:t>Image source: D:\Stepby\kv-cache研究\medical_privacy_prompt\presentations\nonprefix_privacy_progress_20261018\ChatGPT 图像 2026年10月18日 21_26_24-4.png</a:t>
            </a:r>
          </a:p>
          <a:p>
            <a:r>
              <a:t>完整方案二：字段引导文本增强公共KV编码＋问题引导的差分加权重构＋注意力引导的软前缀位置更新。方法标识question_weighted_kv_contrastive_key_attention。S为私有记录，G为固定公共字段引导，P₀为原公共正文，P=G∥P₀。G依据允许的结构与定位知识构造，不包含目标答案；该知识属于额外先验，不能宣称只依赖公开问题。发送端处理S+G+P₀，仅导出G与P₀对应位置KV。相同位置偏移的纯净参照仅处理G+P₀。接收端处理Uθ+G+P₀，Uθ替代未知私有前文。训练只更新每条记录独立的Uθ，G与模型权重固定。</a:t>
            </a:r>
          </a:p>
          <a:p>
            <a:r>
              <a:t>G的字段策略：语义字段要求完整复制，号码、邮箱、金额逐字符定位与重组，日期按年、月、日提取与重组。不是把真实答案填入G。</a:t>
            </a:r>
          </a:p>
          <a:p>
            <a:r>
              <a:t>每层公共位置ΔK=Kobs−Kclean；问题在观测公共KV和更早问题token条件下产生Query，以Q与ΔK的点积评分，温度1，softmax仅在公共位置归一化。问题token均匀平均，查询头聚合至KV头。w_j=0.1+0.9|P| ā_j。G与P₀采用同一差分权重规则，没有额外提高G位置的损失系数。L=Avg_{层、头、K/V}[Σ_j w_j MSE(KV^U_j,KVobs_j)/Σ_j w_j]，base_loss=none、lambda_base=0、lambda_weighted=1。注意力版位置更新综合公共权重×当前重构误差×公共位置对Uθ位置的注意力，给软前缀位置评分，缩放Adam实际更新位移；不添加注意力对齐损失。前400步普通更新，随后启用位置倍率，强度0.75，EMA衰减0。权重、位置评分和训练目标均不读取真实私有内容或答案。</a:t>
            </a:r>
          </a:p>
          <a:p>
            <a:r>
              <a:t>引导是否实际使用取决于训练保存的缓存包。新版引导必须重新prepare，不能仅修改源文本后复用旧缓存或直接resume旧训练。800_guided_v3_zh_4gpu.json指向receiver_cache_800_guided_v3_zh。experiment_1.json当前仍指向receiver_cache_800；同一算法名不能证明缓存已含新版G。baseline_token_4gpu的缓存是否含引导，必须检查该次训练保存的缓存包，不能根据现在的源文本推断。</a:t>
            </a:r>
          </a:p>
          <a:p>
            <a:r>
              <a:t>Sources: D:/Stepby/kv-cache研究/kv_agent/kv_priv/trusted/samples_800/README.md; D:/Stepby/kv-cache研究/kv_agent/kv_priv/configs/800_guided_v3_zh_4gpu.json; D:/Stepby/kv-cache研究/kv_agent/kv_priv/configs/experiment_1.json; D:/Stepby/kv-cache研究/kv_agent/kv_priv/experiment/objectives.py; D:/Stepby/kv-cache研究/kv_agent/kv_priv/experiment/prefix_importance.py</a:t>
            </a:r>
          </a:p>
          <a:p>
            <a:r>
              <a:t>图示口径说明：原图中w_priv=w_obs−w_ref与当前主方案不一致。当前主方案先计算ΔK=Kobs−Kclean，再用问题Query给ΔK打分，公共位置softmax后平均问题token、聚合KV头，再加入0.1保底权重。高权重代表与问题相关的上下文变化，不保证一定含有答案。原图按用户要求保留，未改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页保留实验结果留白。报告结果时注明实际缓存输入、引导版本及prepare时间。不能把baseline_token_4gpu或旧缓存结果直接标作新版字段引导结果。比较时控制记录、模型、问题、前缀长度与优化预算，分别分析发送端引导、差分加权与位置更新的贡献。</a:t>
            </a:r>
          </a:p>
          <a:p>
            <a:r>
              <a:t>引导是否实际使用取决于训练保存的缓存包。新版引导必须重新prepare，不能仅修改源文本后复用旧缓存或直接resume旧训练。800_guided_v3_zh_4gpu.json指向receiver_cache_800_guided_v3_zh。experiment_1.json当前仍指向receiver_cache_800；同一算法名不能证明缓存已含新版G。baseline_token_4gpu的缓存是否含引导，必须检查该次训练保存的缓存包，不能根据现在的源文本推断。</a:t>
            </a:r>
          </a:p>
          <a:p>
            <a:r>
              <a:t>Sources: D:/Stepby/kv-cache研究/kv_agent/kv_priv/trusted/samples_800/README.md; D:/Stepby/kv-cache研究/kv_agent/kv_priv/configs/800_guided_v3_zh_4gpu.json; D:/Stepby/kv-cache研究/kv_agent/kv_priv/configs/experiment_1.json; D:/Stepby/kv-cache研究/kv_agent/kv_priv/experiment/objectives.py; D:/Stepby/kv-cache研究/kv_agent/kv_priv/experiment/prefix_importance.py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方法三通用引导学习的威胁模型图。原图由用户提供，保持比例、完整画面和原始内容。</a:t>
            </a:r>
          </a:p>
          <a:p>
            <a:r>
              <a:t>Image source: D:\Stepby\kv-cache研究\medical_privacy_prompt\presentations\nonprefix_privacy_progress_20261018\ChatGPT 图像 2026年10月18日 21_26_26-5.png</a:t>
            </a:r>
          </a:p>
          <a:p>
            <a:r>
              <a:t>此页区分离线训练与目标部署能力。离线训练可以使用本地冻结模型的梯度，以及独立合成训练患者和标签；攻击目标患者不参与引导优化。目标部署不直接读取或修改受害者KV，但要求受害者处理引导+公共文本，后续请求命中受到私有上下文影响的公共缓存。当前实现为软提示和显式缓存截取/复用，不是已经完成纯文本黑盒攻击。</a:t>
            </a:r>
          </a:p>
          <a:p>
            <a:r>
              <a:t>Sources: D:/Stepby/kv-cache研究/medical_privacy_prompt/medical_kv/backend.py; medical_kv/tasks.py; medical_kv/training.py; configs/experiment_v4_name_birth_parts_no_negatives.json; configs/evaluation_name_birth_parts_overlap10.json; data/dataset_v1/manifest.json; data/dataset_diagnosis_overlap10/manifest.json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方法三共享通用引导的训练与独立患者测试流程图。原图由用户提供，保持比例、完整画面和原始内容。</a:t>
            </a:r>
          </a:p>
          <a:p>
            <a:r>
              <a:t>Image source: D:\Stepby\kv-cache研究\medical_privacy_prompt\presentations\nonprefix_privacy_progress_20261018\ChatGPT 图像 2026年10月18日 21_26_27-6.png</a:t>
            </a:r>
          </a:p>
          <a:p>
            <a:r>
              <a:t>P为合成私有记录、U为共享的32个软提示向量、C为固定公共文本。编码P+U+C后只保留C位置KV，问答损失通过C的KV反传到U；模型权重冻结。U跨训练患者共享，不按每条测试记录重新拟合。当前主配置负例enabled=false。输出不是已完成的可粘贴文本。</a:t>
            </a:r>
          </a:p>
          <a:p>
            <a:r>
              <a:t>Sources: D:/Stepby/kv-cache研究/medical_privacy_prompt/medical_kv/backend.py; medical_kv/tasks.py; medical_kv/training.py; configs/experiment_v4_name_birth_parts_no_negatives.json; configs/evaluation_name_birth_parts_overlap10.json; data/dataset_v1/manifest.json; data/dataset_diagnosis_overlap10/manifest.json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2,328条Synthea合成患者记录，患者划分开发128/训练1000/验证200/测试1000。姓名末尾编号已移除；本版本仅派生提问视图，不改数据值。补充测试集仍是相同1000位患者，姓名、生日、地址不变；100条诊断为训练已见、900条为对应患者原病史中的训练未见诊断。10%按患者记录计算，去重诊断类别的重叠率不同。姓名与生日各三问，组内均值后四组等权。100轮无早停，seed17，全局batch8，模型冻结；负样本完全禁用。</a:t>
            </a:r>
          </a:p>
          <a:p>
            <a:r>
              <a:t>Sources: D:/Stepby/kv-cache研究/medical_privacy_prompt/medical_kv/backend.py; medical_kv/tasks.py; medical_kv/training.py; configs/experiment_v4_name_birth_parts_no_negatives.json; configs/evaluation_name_birth_parts_overlap10.json; data/dataset_v1/manifest.json; data/dataset_diagnosis_overlap10/manifest.json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本页不包含实验性能数值。新旧姓名/生日提问协议须区分；完整姓名和生日由分项独立生成后拼接评分。诊断补充测试10%为记录级已见比例，不是去重标签比例。</a:t>
            </a:r>
          </a:p>
          <a:p>
            <a:r>
              <a:t>Sources: D:/Stepby/kv-cache研究/medical_privacy_prompt/medical_kv/backend.py; medical_kv/tasks.py; medical_kv/training.py; configs/experiment_v4_name_birth_parts_no_negatives.json; configs/evaluation_name_birth_parts_overlap10.json; data/dataset_v1/manifest.json; data/dataset_diagnosis_overlap10/manifest.json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方法一与方法三的实现进展及独立结果保持各自实验口径。方法二已形成字段引导、加权重构与位置更新流程，是否已运行指定引导版本由实际缓存证据决定。</a:t>
            </a:r>
          </a:p>
          <a:p>
            <a:r>
              <a:t>完整方案二：字段引导文本增强公共KV编码＋问题引导的差分加权重构＋注意力引导的软前缀位置更新。方法标识question_weighted_kv_contrastive_key_attention。S为私有记录，G为固定公共字段引导，P₀为原公共正文，P=G∥P₀。G依据允许的结构与定位知识构造，不包含目标答案；该知识属于额外先验，不能宣称只依赖公开问题。发送端处理S+G+P₀，仅导出G与P₀对应位置KV。相同位置偏移的纯净参照仅处理G+P₀。接收端处理Uθ+G+P₀，Uθ替代未知私有前文。训练只更新每条记录独立的Uθ，G与模型权重固定。</a:t>
            </a:r>
          </a:p>
          <a:p>
            <a:r>
              <a:t>引导是否实际使用取决于训练保存的缓存包。新版引导必须重新prepare，不能仅修改源文本后复用旧缓存或直接resume旧训练。800_guided_v3_zh_4gpu.json指向receiver_cache_800_guided_v3_zh。experiment_1.json当前仍指向receiver_cache_800；同一算法名不能证明缓存已含新版G。baseline_token_4gpu的缓存是否含引导，必须检查该次训练保存的缓存包，不能根据现在的源文本推断。</a:t>
            </a:r>
          </a:p>
          <a:p>
            <a:r>
              <a:t>Sources: D:/Stepby/kv-cache研究/kv_agent/kv_priv/trusted/samples_800/README.md; D:/Stepby/kv-cache研究/kv_agent/kv_priv/configs/800_guided_v3_zh_4gpu.json; D:/Stepby/kv-cache研究/kv_agent/kv_priv/configs/experiment_1.json; D:/Stepby/kv-cache研究/kv_agent/kv_priv/experiment/objectives.py; D:/Stepby/kv-cache研究/kv_agent/kv_priv/experiment/prefix_importance.py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方法一/二假设公共缓存可读，方法二还干预发送端的公共输入，使用允许的字段结构与定位知识。方法三目标降低缓存访问要求，当前为软提示模拟，后续验证离散文本与真实服务。</a:t>
            </a:r>
          </a:p>
          <a:p>
            <a:r>
              <a:t>完整方案二：字段引导文本增强公共KV编码＋问题引导的差分加权重构＋注意力引导的软前缀位置更新。方法标识question_weighted_kv_contrastive_key_attention。S为私有记录，G为固定公共字段引导，P₀为原公共正文，P=G∥P₀。G依据允许的结构与定位知识构造，不包含目标答案；该知识属于额外先验，不能宣称只依赖公开问题。发送端处理S+G+P₀，仅导出G与P₀对应位置KV。相同位置偏移的纯净参照仅处理G+P₀。接收端处理Uθ+G+P₀，Uθ替代未知私有前文。训练只更新每条记录独立的Uθ，G与模型权重固定。</a:t>
            </a:r>
          </a:p>
          <a:p>
            <a:r>
              <a:t>引导是否实际使用取决于训练保存的缓存包。新版引导必须重新prepare，不能仅修改源文本后复用旧缓存或直接resume旧训练。800_guided_v3_zh_4gpu.json指向receiver_cache_800_guided_v3_zh。experiment_1.json当前仍指向receiver_cache_800；同一算法名不能证明缓存已含新版G。baseline_token_4gpu的缓存是否含引导，必须检查该次训练保存的缓存包，不能根据现在的源文本推断。</a:t>
            </a:r>
          </a:p>
          <a:p>
            <a:r>
              <a:t>Sources: D:/Stepby/kv-cache研究/kv_agent/kv_priv/trusted/samples_800/README.md; D:/Stepby/kv-cache研究/kv_agent/kv_priv/configs/800_guided_v3_zh_4gpu.json; D:/Stepby/kv-cache研究/kv_agent/kv_priv/configs/experiment_1.json; D:/Stepby/kv-cache研究/kv_agent/kv_priv/experiment/objectives.py; D:/Stepby/kv-cache研究/kv_agent/kv_priv/experiment/prefix_importance.py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  <p:sp>
        <p:nvSpPr>
          <p:cNvPr id="2" name="Subtitle"/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/>
      <p:sp>
        <p:nvSpPr>
          <p:cNvPr id="2" name="Section title"/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  <p:sp>
        <p:nvSpPr>
          <p:cNvPr id="2" name="Body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/>
      <p:sp>
        <p:nvSpPr>
          <p:cNvPr id="4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  <p:sp>
        <p:nvSpPr>
          <p:cNvPr id="2" name="Left column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  <p:sp>
        <p:nvSpPr>
          <p:cNvPr id="3" name="Right column"/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  <p:sp>
        <p:nvSpPr>
          <p:cNvPr id="2" name="Left column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7" Type="http://schemas.openxmlformats.org/officeDocument/2006/relationships/theme" Target="../theme/theme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9.png"/><Relationship Id="rId1" Type="http://schemas.openxmlformats.org/officeDocument/2006/relationships/tags" Target="../tags/tag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slide-number"/>
          <p:cNvSpPr>
            <a:spLocks noGrp="1"/>
          </p:cNvSpPr>
          <p:nvPr/>
        </p:nvSpPr>
        <p:spPr>
          <a:xfrm>
            <a:off x="11258550" y="6400800"/>
            <a:ext cx="4000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r">
              <a:buNone/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r">
              <a:buNone/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r">
              <a:buNone/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r">
              <a:buNone/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r">
              <a:buNone/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r">
              <a:buNone/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r">
              <a:buNone/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r">
              <a:buNone/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r">
              <a:buNone/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r">
              <a:lnSpc>
                <a:spcPct val="122000"/>
              </a:lnSpc>
              <a:buNone/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sz="1275" b="0">
              <a:solidFill>
                <a:srgbClr val="5367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ver-title"/>
          <p:cNvSpPr>
            <a:spLocks noGrp="1"/>
          </p:cNvSpPr>
          <p:nvPr/>
        </p:nvSpPr>
        <p:spPr>
          <a:xfrm>
            <a:off x="609600" y="1790700"/>
            <a:ext cx="6762750" cy="1981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435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buNone/>
              <a:defRPr sz="435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buNone/>
              <a:defRPr sz="435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buNone/>
              <a:defRPr sz="435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buNone/>
              <a:defRPr sz="435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buNone/>
              <a:defRPr sz="435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buNone/>
              <a:defRPr sz="435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buNone/>
              <a:defRPr sz="435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buNone/>
              <a:defRPr sz="435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buNone/>
              <a:defRPr sz="435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lnSpc>
                <a:spcPct val="135000"/>
              </a:lnSpc>
              <a:buNone/>
              <a:defRPr sz="435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435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非前缀缓存复用下的</a:t>
            </a:r>
            <a:endParaRPr sz="4350" b="1">
              <a:solidFill>
                <a:srgbClr val="132B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5000"/>
              </a:lnSpc>
              <a:buNone/>
              <a:defRPr sz="435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435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隐私信息泄露边界</a:t>
            </a:r>
            <a:endParaRPr sz="4350" b="1">
              <a:solidFill>
                <a:srgbClr val="132B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body-2"/>
          <p:cNvSpPr>
            <a:spLocks noGrp="1"/>
          </p:cNvSpPr>
          <p:nvPr/>
        </p:nvSpPr>
        <p:spPr>
          <a:xfrm>
            <a:off x="647700" y="4210050"/>
            <a:ext cx="609600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0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buNone/>
              <a:defRPr sz="2250" b="0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buNone/>
              <a:defRPr sz="2250" b="0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buNone/>
              <a:defRPr sz="2250" b="0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buNone/>
              <a:defRPr sz="2250" b="0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buNone/>
              <a:defRPr sz="2250" b="0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buNone/>
              <a:defRPr sz="2250" b="0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buNone/>
              <a:defRPr sz="2250" b="0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buNone/>
              <a:defRPr sz="2250" b="0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buNone/>
              <a:defRPr sz="2250" b="0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lnSpc>
                <a:spcPct val="122000"/>
              </a:lnSpc>
              <a:buNone/>
              <a:defRPr sz="2250" b="0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0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三种方法与研究进展</a:t>
            </a:r>
            <a:endParaRPr sz="2250" b="0">
              <a:solidFill>
                <a:srgbClr val="167E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body-3"/>
          <p:cNvSpPr>
            <a:spLocks noGrp="1"/>
          </p:cNvSpPr>
          <p:nvPr/>
        </p:nvSpPr>
        <p:spPr>
          <a:xfrm>
            <a:off x="647700" y="5886450"/>
            <a:ext cx="34290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50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buNone/>
              <a:defRPr sz="1650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buNone/>
              <a:defRPr sz="1650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buNone/>
              <a:defRPr sz="1650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buNone/>
              <a:defRPr sz="1650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buNone/>
              <a:defRPr sz="1650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buNone/>
              <a:defRPr sz="1650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buNone/>
              <a:defRPr sz="1650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buNone/>
              <a:defRPr sz="1650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buNone/>
              <a:defRPr sz="1650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lnSpc>
                <a:spcPct val="122000"/>
              </a:lnSpc>
              <a:buNone/>
              <a:defRPr sz="1650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2026.10</a:t>
            </a:r>
            <a:endParaRPr sz="1650" b="0">
              <a:solidFill>
                <a:srgbClr val="5367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slide-title"/>
          <p:cNvSpPr>
            <a:spLocks noGrp="1"/>
          </p:cNvSpPr>
          <p:nvPr/>
        </p:nvSpPr>
        <p:spPr>
          <a:xfrm>
            <a:off x="609600" y="428625"/>
            <a:ext cx="109728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buNone/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buNone/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buNone/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buNone/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buNone/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buNone/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buNone/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buNone/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buNone/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lnSpc>
                <a:spcPct val="122000"/>
              </a:lnSpc>
              <a:buNone/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研究场景与边界</a:t>
            </a:r>
            <a:endParaRPr sz="3300" b="1">
              <a:solidFill>
                <a:srgbClr val="132B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slide-number"/>
          <p:cNvSpPr>
            <a:spLocks noGrp="1"/>
          </p:cNvSpPr>
          <p:nvPr/>
        </p:nvSpPr>
        <p:spPr>
          <a:xfrm>
            <a:off x="11258550" y="6400800"/>
            <a:ext cx="4000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r">
              <a:buNone/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r">
              <a:buNone/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r">
              <a:buNone/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r">
              <a:buNone/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r">
              <a:buNone/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r">
              <a:buNone/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r">
              <a:buNone/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r">
              <a:buNone/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r">
              <a:buNone/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r">
              <a:lnSpc>
                <a:spcPct val="122000"/>
              </a:lnSpc>
              <a:buNone/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sz="1275" b="0">
              <a:solidFill>
                <a:srgbClr val="5367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body-2"/>
          <p:cNvSpPr>
            <a:spLocks noGrp="1"/>
          </p:cNvSpPr>
          <p:nvPr/>
        </p:nvSpPr>
        <p:spPr>
          <a:xfrm>
            <a:off x="647700" y="5133975"/>
            <a:ext cx="108966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buNone/>
              <a:defRPr sz="2175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buNone/>
              <a:defRPr sz="2175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buNone/>
              <a:defRPr sz="2175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buNone/>
              <a:defRPr sz="2175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buNone/>
              <a:defRPr sz="2175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buNone/>
              <a:defRPr sz="2175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buNone/>
              <a:defRPr sz="2175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buNone/>
              <a:defRPr sz="2175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buNone/>
              <a:defRPr sz="2175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lnSpc>
                <a:spcPct val="122000"/>
              </a:lnSpc>
              <a:buNone/>
              <a:defRPr sz="2175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研究对象：公共文本位置的上下文化KV，而非私有位置的KV</a:t>
            </a:r>
            <a:endParaRPr sz="2175" b="1">
              <a:solidFill>
                <a:srgbClr val="167E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body-3"/>
          <p:cNvSpPr>
            <a:spLocks noGrp="1"/>
          </p:cNvSpPr>
          <p:nvPr/>
        </p:nvSpPr>
        <p:spPr>
          <a:xfrm>
            <a:off x="647700" y="5734050"/>
            <a:ext cx="1089660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buNone/>
              <a:defRPr sz="1800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buNone/>
              <a:defRPr sz="1800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buNone/>
              <a:defRPr sz="1800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buNone/>
              <a:defRPr sz="1800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buNone/>
              <a:defRPr sz="1800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buNone/>
              <a:defRPr sz="1800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buNone/>
              <a:defRPr sz="1800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buNone/>
              <a:defRPr sz="1800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buNone/>
              <a:defRPr sz="1800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lnSpc>
                <a:spcPct val="122000"/>
              </a:lnSpc>
              <a:buNone/>
              <a:defRPr sz="1800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成立前提：公共文本位于私有记录之后；目标缓存能被后续请求复用</a:t>
            </a:r>
            <a:endParaRPr sz="1800" b="0">
              <a:solidFill>
                <a:srgbClr val="5367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22000"/>
              </a:lnSpc>
              <a:buNone/>
              <a:defRPr sz="1800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边界声明：合成数据与受控实验不等同于已证明生产系统存在漏洞</a:t>
            </a:r>
            <a:endParaRPr sz="1800" b="0">
              <a:solidFill>
                <a:srgbClr val="5367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7670" y="1340485"/>
            <a:ext cx="5883910" cy="3310255"/>
          </a:xfrm>
          <a:prstGeom prst="rect">
            <a:avLst/>
          </a:prstGeom>
        </p:spPr>
      </p:pic>
      <p:sp>
        <p:nvSpPr>
          <p:cNvPr id="9" name="文本框 8"/>
          <p:cNvSpPr>
            <a:spLocks noGrp="1"/>
          </p:cNvSpPr>
          <p:nvPr/>
        </p:nvSpPr>
        <p:spPr>
          <a:xfrm>
            <a:off x="6710680" y="1340485"/>
            <a:ext cx="4871720" cy="37941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sz="165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buNone/>
              <a:defRPr sz="165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buNone/>
              <a:defRPr sz="165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buNone/>
              <a:defRPr sz="165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buNone/>
              <a:defRPr sz="165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buNone/>
              <a:defRPr sz="165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buNone/>
              <a:defRPr sz="165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buNone/>
              <a:defRPr sz="165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buNone/>
              <a:defRPr sz="165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buNone/>
              <a:defRPr sz="165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lnSpc>
                <a:spcPct val="114000"/>
              </a:lnSpc>
              <a:buNone/>
              <a:defRPr sz="165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本研究考察非前缀KV缓存复用中的隐私边界。</a:t>
            </a:r>
            <a:endParaRPr>
              <a:solidFill>
                <a:srgbClr val="132B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>
              <a:solidFill>
                <a:srgbClr val="132B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14000"/>
              </a:lnSpc>
              <a:buNone/>
              <a:defRPr sz="165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1．可访问公共缓存，可编辑公共文本</a:t>
            </a:r>
            <a:endParaRPr>
              <a:solidFill>
                <a:srgbClr val="132B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14000"/>
              </a:lnSpc>
              <a:buNone/>
              <a:defRPr sz="165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（1）逐token KV重构</a:t>
            </a:r>
            <a:endParaRPr>
              <a:solidFill>
                <a:srgbClr val="132B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14000"/>
              </a:lnSpc>
              <a:buNone/>
              <a:defRPr sz="165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（2）字段引导编码增强，结合</a:t>
            </a:r>
            <a:endParaRPr>
              <a:solidFill>
                <a:srgbClr val="132B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14000"/>
              </a:lnSpc>
              <a:buNone/>
              <a:defRPr sz="165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Key差分加权与注意力位置更新</a:t>
            </a:r>
            <a:endParaRPr sz="1650">
              <a:solidFill>
                <a:srgbClr val="132B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>
              <a:solidFill>
                <a:srgbClr val="132B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14000"/>
              </a:lnSpc>
              <a:buNone/>
              <a:defRPr sz="165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2．不可访问目标缓存，可编辑公共文本</a:t>
            </a:r>
            <a:endParaRPr>
              <a:solidFill>
                <a:srgbClr val="132B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14000"/>
              </a:lnSpc>
              <a:buNone/>
              <a:defRPr sz="165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（3）训练通用引导，放在公共文本前，</a:t>
            </a:r>
            <a:endParaRPr>
              <a:solidFill>
                <a:srgbClr val="132B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14000"/>
              </a:lnSpc>
              <a:buNone/>
              <a:defRPr sz="165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促使私有信息经公共缓存被后续请求恢复。</a:t>
            </a:r>
            <a:endParaRPr>
              <a:solidFill>
                <a:srgbClr val="132B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>
              <a:solidFill>
                <a:srgbClr val="132B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14000"/>
              </a:lnSpc>
              <a:buNone/>
              <a:defRPr sz="165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三种方法均使用模型权重，属于白盒研究。</a:t>
            </a:r>
            <a:endParaRPr>
              <a:solidFill>
                <a:srgbClr val="132B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" name="slide-title"/>
          <p:cNvSpPr>
            <a:spLocks noGrp="1"/>
          </p:cNvSpPr>
          <p:nvPr/>
        </p:nvSpPr>
        <p:spPr>
          <a:xfrm>
            <a:off x="609600" y="428625"/>
            <a:ext cx="109728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buNone/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buNone/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buNone/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buNone/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buNone/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buNone/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buNone/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buNone/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buNone/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lnSpc>
                <a:spcPct val="122000"/>
              </a:lnSpc>
              <a:buNone/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三种方法总览</a:t>
            </a:r>
            <a:endParaRPr sz="3300" b="1">
              <a:solidFill>
                <a:srgbClr val="132B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slide-number"/>
          <p:cNvSpPr>
            <a:spLocks noGrp="1"/>
          </p:cNvSpPr>
          <p:nvPr/>
        </p:nvSpPr>
        <p:spPr>
          <a:xfrm>
            <a:off x="11258550" y="6400800"/>
            <a:ext cx="4000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r">
              <a:buNone/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r">
              <a:buNone/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r">
              <a:buNone/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r">
              <a:buNone/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r">
              <a:buNone/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r">
              <a:buNone/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r">
              <a:buNone/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r">
              <a:buNone/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r">
              <a:buNone/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r">
              <a:lnSpc>
                <a:spcPct val="122000"/>
              </a:lnSpc>
              <a:buNone/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sz="1275" b="0">
              <a:solidFill>
                <a:srgbClr val="5367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3" name="表格 2"/>
          <p:cNvGraphicFramePr/>
          <p:nvPr/>
        </p:nvGraphicFramePr>
        <p:xfrm>
          <a:off x="609600" y="1609725"/>
          <a:ext cx="10972800" cy="4095750"/>
        </p:xfrm>
        <a:graphic>
          <a:graphicData uri="http://schemas.openxmlformats.org/drawingml/2006/table">
            <a:tbl>
              <a:tblPr/>
              <a:tblGrid>
                <a:gridCol w="2143125"/>
                <a:gridCol w="3286125"/>
                <a:gridCol w="2667000"/>
                <a:gridCol w="2876550"/>
              </a:tblGrid>
              <a:tr h="590550">
                <a:tc>
                  <a:txBody>
                    <a:bodyPr wrap="square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方法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52400" marT="133350" marB="133350" anchor="ctr">
                    <a:lnL w="9525">
                      <a:solidFill>
                        <a:srgbClr val="D9E4E3"/>
                      </a:solidFill>
                      <a:prstDash val="solid"/>
                    </a:lnL>
                    <a:lnR w="9525">
                      <a:solidFill>
                        <a:srgbClr val="D9E4E3"/>
                      </a:solidFill>
                      <a:prstDash val="solid"/>
                    </a:lnR>
                    <a:lnT w="9525">
                      <a:solidFill>
                        <a:srgbClr val="D9E4E3"/>
                      </a:solidFill>
                      <a:prstDash val="solid"/>
                    </a:lnT>
                    <a:lnB w="9525">
                      <a:solidFill>
                        <a:srgbClr val="D9E4E3"/>
                      </a:solidFill>
                      <a:prstDash val="solid"/>
                    </a:lnB>
                    <a:solidFill>
                      <a:srgbClr val="132B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攻击者可用信息／控制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52400" marT="133350" marB="133350" anchor="ctr">
                    <a:lnR w="9525">
                      <a:solidFill>
                        <a:srgbClr val="D9E4E3"/>
                      </a:solidFill>
                      <a:prstDash val="solid"/>
                    </a:lnR>
                    <a:lnT w="9525">
                      <a:solidFill>
                        <a:srgbClr val="D9E4E3"/>
                      </a:solidFill>
                      <a:prstDash val="solid"/>
                    </a:lnT>
                    <a:lnB w="9525">
                      <a:solidFill>
                        <a:srgbClr val="D9E4E3"/>
                      </a:solidFill>
                      <a:prstDash val="solid"/>
                    </a:lnB>
                    <a:solidFill>
                      <a:srgbClr val="132B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优化对象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52400" marT="133350" marB="133350" anchor="ctr">
                    <a:lnR w="9525">
                      <a:solidFill>
                        <a:srgbClr val="D9E4E3"/>
                      </a:solidFill>
                      <a:prstDash val="solid"/>
                    </a:lnR>
                    <a:lnT w="9525">
                      <a:solidFill>
                        <a:srgbClr val="D9E4E3"/>
                      </a:solidFill>
                      <a:prstDash val="solid"/>
                    </a:lnT>
                    <a:lnB w="9525">
                      <a:solidFill>
                        <a:srgbClr val="D9E4E3"/>
                      </a:solidFill>
                      <a:prstDash val="solid"/>
                    </a:lnB>
                    <a:solidFill>
                      <a:srgbClr val="132B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核心问题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52400" marT="133350" marB="133350" anchor="ctr">
                    <a:lnR w="9525">
                      <a:solidFill>
                        <a:srgbClr val="D9E4E3"/>
                      </a:solidFill>
                      <a:prstDash val="solid"/>
                    </a:lnR>
                    <a:lnT w="9525">
                      <a:solidFill>
                        <a:srgbClr val="D9E4E3"/>
                      </a:solidFill>
                      <a:prstDash val="solid"/>
                    </a:lnT>
                    <a:lnB w="9525">
                      <a:solidFill>
                        <a:srgbClr val="D9E4E3"/>
                      </a:solidFill>
                      <a:prstDash val="solid"/>
                    </a:lnB>
                    <a:solidFill>
                      <a:srgbClr val="132B3A"/>
                    </a:solidFill>
                  </a:tcPr>
                </a:tc>
              </a:tr>
              <a:tr h="1168400"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32B3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一｜逐token KV重建</a:t>
                      </a:r>
                      <a:endParaRPr sz="1800" b="0">
                        <a:solidFill>
                          <a:srgbClr val="132B3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52400" marT="133350" marB="133350" anchor="ctr">
                    <a:lnL w="9525">
                      <a:solidFill>
                        <a:srgbClr val="D9E4E3"/>
                      </a:solidFill>
                      <a:prstDash val="solid"/>
                    </a:lnL>
                    <a:lnR w="9525">
                      <a:solidFill>
                        <a:srgbClr val="D9E4E3"/>
                      </a:solidFill>
                      <a:prstDash val="solid"/>
                    </a:lnR>
                    <a:lnB w="9525">
                      <a:solidFill>
                        <a:srgbClr val="D9E4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32B3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公共KV可读</a:t>
                      </a:r>
                      <a:endParaRPr sz="1800" b="0">
                        <a:solidFill>
                          <a:srgbClr val="132B3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r>
                        <a:rPr sz="1800" b="0">
                          <a:solidFill>
                            <a:srgbClr val="132B3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冻结模型可用</a:t>
                      </a:r>
                      <a:endParaRPr sz="1800" b="0">
                        <a:solidFill>
                          <a:srgbClr val="132B3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52400" marT="133350" marB="133350" anchor="ctr">
                    <a:lnR w="9525">
                      <a:solidFill>
                        <a:srgbClr val="D9E4E3"/>
                      </a:solidFill>
                      <a:prstDash val="solid"/>
                    </a:lnR>
                    <a:lnB w="9525">
                      <a:solidFill>
                        <a:srgbClr val="D9E4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32B3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每条记录的软前缀</a:t>
                      </a:r>
                      <a:endParaRPr sz="1800" b="0">
                        <a:solidFill>
                          <a:srgbClr val="132B3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52400" marT="133350" marB="133350" anchor="ctr">
                    <a:lnR w="9525">
                      <a:solidFill>
                        <a:srgbClr val="D9E4E3"/>
                      </a:solidFill>
                      <a:prstDash val="solid"/>
                    </a:lnR>
                    <a:lnB w="9525">
                      <a:solidFill>
                        <a:srgbClr val="D9E4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32B3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公共KV本身能支持</a:t>
                      </a:r>
                      <a:endParaRPr sz="1800" b="0">
                        <a:solidFill>
                          <a:srgbClr val="132B3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r>
                        <a:rPr sz="1800" b="0">
                          <a:solidFill>
                            <a:srgbClr val="132B3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多少隐私恢复</a:t>
                      </a:r>
                      <a:endParaRPr sz="1800" b="0">
                        <a:solidFill>
                          <a:srgbClr val="132B3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52400" marT="133350" marB="133350" anchor="ctr">
                    <a:lnR w="9525">
                      <a:solidFill>
                        <a:srgbClr val="D9E4E3"/>
                      </a:solidFill>
                      <a:prstDash val="solid"/>
                    </a:lnR>
                    <a:lnB w="9525">
                      <a:solidFill>
                        <a:srgbClr val="D9E4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168400"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32B3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二｜字段引导</a:t>
                      </a:r>
                      <a:endParaRPr sz="1800" b="0">
                        <a:solidFill>
                          <a:srgbClr val="132B3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r>
                        <a:rPr sz="1800" b="0">
                          <a:solidFill>
                            <a:srgbClr val="132B3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与加权重构</a:t>
                      </a:r>
                      <a:endParaRPr sz="1800" b="0">
                        <a:solidFill>
                          <a:srgbClr val="132B3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52400" marT="133350" marB="133350" anchor="ctr">
                    <a:lnL w="9525">
                      <a:solidFill>
                        <a:srgbClr val="D9E4E3"/>
                      </a:solidFill>
                      <a:prstDash val="solid"/>
                    </a:lnL>
                    <a:lnR w="9525">
                      <a:solidFill>
                        <a:srgbClr val="D9E4E3"/>
                      </a:solidFill>
                      <a:prstDash val="solid"/>
                    </a:lnR>
                    <a:lnB w="9525">
                      <a:solidFill>
                        <a:srgbClr val="D9E4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32B3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公共KV可读</a:t>
                      </a:r>
                      <a:endParaRPr sz="1800" b="0">
                        <a:solidFill>
                          <a:srgbClr val="132B3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r>
                        <a:rPr sz="1800" b="0">
                          <a:solidFill>
                            <a:srgbClr val="132B3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可干预发送端公共输入</a:t>
                      </a:r>
                      <a:endParaRPr sz="1800" b="0">
                        <a:solidFill>
                          <a:srgbClr val="132B3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52400" marT="133350" marB="133350" anchor="ctr">
                    <a:lnR w="9525">
                      <a:solidFill>
                        <a:srgbClr val="D9E4E3"/>
                      </a:solidFill>
                      <a:prstDash val="solid"/>
                    </a:lnR>
                    <a:lnB w="9525">
                      <a:solidFill>
                        <a:srgbClr val="D9E4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32B3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每条记录的软前缀</a:t>
                      </a:r>
                      <a:endParaRPr sz="1800" b="0">
                        <a:solidFill>
                          <a:srgbClr val="132B3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r>
                        <a:rPr sz="1800" b="0">
                          <a:solidFill>
                            <a:srgbClr val="132B3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G与模型权重固定</a:t>
                      </a:r>
                      <a:endParaRPr sz="1800" b="0">
                        <a:solidFill>
                          <a:srgbClr val="132B3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52400" marT="133350" marB="133350" anchor="ctr">
                    <a:lnR w="9525">
                      <a:solidFill>
                        <a:srgbClr val="D9E4E3"/>
                      </a:solidFill>
                      <a:prstDash val="solid"/>
                    </a:lnR>
                    <a:lnB w="9525">
                      <a:solidFill>
                        <a:srgbClr val="D9E4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32B3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引导编码与重构优化</a:t>
                      </a:r>
                      <a:endParaRPr sz="1800" b="0">
                        <a:solidFill>
                          <a:srgbClr val="132B3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r>
                        <a:rPr sz="1800" b="0">
                          <a:solidFill>
                            <a:srgbClr val="132B3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能否增强字段恢复？</a:t>
                      </a:r>
                      <a:endParaRPr sz="1800" b="0">
                        <a:solidFill>
                          <a:srgbClr val="132B3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52400" marT="133350" marB="133350" anchor="ctr">
                    <a:lnR w="9525">
                      <a:solidFill>
                        <a:srgbClr val="D9E4E3"/>
                      </a:solidFill>
                      <a:prstDash val="solid"/>
                    </a:lnR>
                    <a:lnB w="9525">
                      <a:solidFill>
                        <a:srgbClr val="D9E4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168400"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32B3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三｜通用引导学习</a:t>
                      </a:r>
                      <a:endParaRPr sz="1800" b="0">
                        <a:solidFill>
                          <a:srgbClr val="132B3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52400" marT="133350" marB="133350" anchor="ctr">
                    <a:lnL w="9525">
                      <a:solidFill>
                        <a:srgbClr val="D9E4E3"/>
                      </a:solidFill>
                      <a:prstDash val="solid"/>
                    </a:lnL>
                    <a:lnR w="9525">
                      <a:solidFill>
                        <a:srgbClr val="D9E4E3"/>
                      </a:solidFill>
                      <a:prstDash val="solid"/>
                    </a:lnR>
                    <a:lnB w="9525">
                      <a:solidFill>
                        <a:srgbClr val="D9E4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32B3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离线使用合成训练记录</a:t>
                      </a:r>
                      <a:endParaRPr sz="1800" b="0">
                        <a:solidFill>
                          <a:srgbClr val="132B3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r>
                        <a:rPr sz="1800" b="0">
                          <a:solidFill>
                            <a:srgbClr val="132B3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部署目标：只控制引导</a:t>
                      </a:r>
                      <a:endParaRPr sz="1800" b="0">
                        <a:solidFill>
                          <a:srgbClr val="132B3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52400" marT="133350" marB="133350" anchor="ctr">
                    <a:lnR w="9525">
                      <a:solidFill>
                        <a:srgbClr val="D9E4E3"/>
                      </a:solidFill>
                      <a:prstDash val="solid"/>
                    </a:lnR>
                    <a:lnB w="9525">
                      <a:solidFill>
                        <a:srgbClr val="D9E4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32B3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跨患者共享的引导U</a:t>
                      </a:r>
                      <a:endParaRPr sz="1800" b="0">
                        <a:solidFill>
                          <a:srgbClr val="132B3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r>
                        <a:rPr sz="1800" b="0">
                          <a:solidFill>
                            <a:srgbClr val="132B3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当前为软提示</a:t>
                      </a:r>
                      <a:endParaRPr sz="1800" b="0">
                        <a:solidFill>
                          <a:srgbClr val="132B3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52400" marT="133350" marB="133350" anchor="ctr">
                    <a:lnR w="9525">
                      <a:solidFill>
                        <a:srgbClr val="D9E4E3"/>
                      </a:solidFill>
                      <a:prstDash val="solid"/>
                    </a:lnR>
                    <a:lnB w="9525">
                      <a:solidFill>
                        <a:srgbClr val="D9E4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32B3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不直接读取目标KV</a:t>
                      </a:r>
                      <a:endParaRPr sz="1800" b="0">
                        <a:solidFill>
                          <a:srgbClr val="132B3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r>
                        <a:rPr sz="1800" b="0">
                          <a:solidFill>
                            <a:srgbClr val="132B3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能否仍恢复私有字段？</a:t>
                      </a:r>
                      <a:endParaRPr sz="1800" b="0">
                        <a:solidFill>
                          <a:srgbClr val="132B3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52400" marT="133350" marB="133350" anchor="ctr">
                    <a:lnR w="9525">
                      <a:solidFill>
                        <a:srgbClr val="D9E4E3"/>
                      </a:solidFill>
                      <a:prstDash val="solid"/>
                    </a:lnR>
                    <a:lnB w="9525">
                      <a:solidFill>
                        <a:srgbClr val="D9E4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body-2"/>
          <p:cNvSpPr>
            <a:spLocks noGrp="1"/>
          </p:cNvSpPr>
          <p:nvPr/>
        </p:nvSpPr>
        <p:spPr>
          <a:xfrm>
            <a:off x="628650" y="5981700"/>
            <a:ext cx="108966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buNone/>
              <a:defRPr sz="18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buNone/>
              <a:defRPr sz="18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buNone/>
              <a:defRPr sz="18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buNone/>
              <a:defRPr sz="18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buNone/>
              <a:defRPr sz="18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buNone/>
              <a:defRPr sz="18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buNone/>
              <a:defRPr sz="18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buNone/>
              <a:defRPr sz="18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buNone/>
              <a:defRPr sz="18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lnSpc>
                <a:spcPct val="122000"/>
              </a:lnSpc>
              <a:buNone/>
              <a:defRPr sz="18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三种方法对应不同能力与数据设置，结果分别报告，不直接按总分排名</a:t>
            </a:r>
            <a:endParaRPr sz="1875" b="0">
              <a:solidFill>
                <a:srgbClr val="5367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0953" y="0"/>
            <a:ext cx="11610094" cy="6534150"/>
          </a:xfrm>
          <a:prstGeom prst="rect">
            <a:avLst/>
          </a:prstGeom>
        </p:spPr>
      </p:pic>
      <p:sp>
        <p:nvSpPr>
          <p:cNvPr id="2" name="slide-number"/>
          <p:cNvSpPr>
            <a:spLocks noGrp="1"/>
          </p:cNvSpPr>
          <p:nvPr/>
        </p:nvSpPr>
        <p:spPr>
          <a:xfrm>
            <a:off x="11430000" y="6591300"/>
            <a:ext cx="40005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75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r">
              <a:defRPr sz="1275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r">
              <a:defRPr sz="1275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r">
              <a:defRPr sz="1275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r">
              <a:defRPr sz="1275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r">
              <a:defRPr sz="1275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r">
              <a:defRPr sz="1275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r">
              <a:defRPr sz="1275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r">
              <a:defRPr sz="1275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r">
              <a:defRPr sz="1275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r">
              <a:lnSpc>
                <a:spcPct val="105000"/>
              </a:lnSpc>
              <a:buNone/>
              <a:defRPr sz="1275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</a:t>
            </a:r>
            <a:endParaRPr sz="1275">
              <a:solidFill>
                <a:srgbClr val="5367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0953" y="0"/>
            <a:ext cx="11610094" cy="6534150"/>
          </a:xfrm>
          <a:prstGeom prst="rect">
            <a:avLst/>
          </a:prstGeom>
        </p:spPr>
      </p:pic>
      <p:sp>
        <p:nvSpPr>
          <p:cNvPr id="2" name="slide-number"/>
          <p:cNvSpPr>
            <a:spLocks noGrp="1"/>
          </p:cNvSpPr>
          <p:nvPr/>
        </p:nvSpPr>
        <p:spPr>
          <a:xfrm>
            <a:off x="11430000" y="6591300"/>
            <a:ext cx="40005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75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r">
              <a:defRPr sz="1275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r">
              <a:defRPr sz="1275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r">
              <a:defRPr sz="1275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r">
              <a:defRPr sz="1275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r">
              <a:defRPr sz="1275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r">
              <a:defRPr sz="1275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r">
              <a:defRPr sz="1275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r">
              <a:defRPr sz="1275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r">
              <a:defRPr sz="1275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r">
              <a:lnSpc>
                <a:spcPct val="105000"/>
              </a:lnSpc>
              <a:buNone/>
              <a:defRPr sz="1275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</a:t>
            </a:r>
            <a:endParaRPr sz="1275">
              <a:solidFill>
                <a:srgbClr val="5367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slide-title"/>
          <p:cNvSpPr>
            <a:spLocks noGrp="1"/>
          </p:cNvSpPr>
          <p:nvPr/>
        </p:nvSpPr>
        <p:spPr>
          <a:xfrm>
            <a:off x="609600" y="428625"/>
            <a:ext cx="109728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buNone/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buNone/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buNone/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buNone/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buNone/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buNone/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buNone/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buNone/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buNone/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lnSpc>
                <a:spcPct val="122000"/>
              </a:lnSpc>
              <a:buNone/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方法一｜实验结果</a:t>
            </a:r>
            <a:endParaRPr sz="3300" b="1">
              <a:solidFill>
                <a:srgbClr val="132B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slide-number"/>
          <p:cNvSpPr>
            <a:spLocks noGrp="1"/>
          </p:cNvSpPr>
          <p:nvPr/>
        </p:nvSpPr>
        <p:spPr>
          <a:xfrm>
            <a:off x="11258550" y="6400800"/>
            <a:ext cx="4000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r">
              <a:buNone/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r">
              <a:buNone/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r">
              <a:buNone/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r">
              <a:buNone/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r">
              <a:buNone/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r">
              <a:buNone/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r">
              <a:buNone/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r">
              <a:buNone/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r">
              <a:buNone/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r">
              <a:lnSpc>
                <a:spcPct val="122000"/>
              </a:lnSpc>
              <a:buNone/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</a:t>
            </a:r>
            <a:endParaRPr sz="1275" b="0">
              <a:solidFill>
                <a:srgbClr val="5367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body-2"/>
          <p:cNvSpPr>
            <a:spLocks noGrp="1"/>
          </p:cNvSpPr>
          <p:nvPr/>
        </p:nvSpPr>
        <p:spPr>
          <a:xfrm>
            <a:off x="628650" y="1247775"/>
            <a:ext cx="1076325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buNone/>
              <a:defRPr sz="18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buNone/>
              <a:defRPr sz="18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buNone/>
              <a:defRPr sz="18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buNone/>
              <a:defRPr sz="18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buNone/>
              <a:defRPr sz="18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buNone/>
              <a:defRPr sz="18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buNone/>
              <a:defRPr sz="18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buNone/>
              <a:defRPr sz="18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buNone/>
              <a:defRPr sz="18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lnSpc>
                <a:spcPct val="122000"/>
              </a:lnSpc>
              <a:buNone/>
              <a:defRPr sz="18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实验设置：四种隐私场景：医疗，企业人事，个人身份信息，银行转账记录。每个场景</a:t>
            </a:r>
            <a:r>
              <a:rPr sz="18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200</a:t>
            </a:r>
            <a:r>
              <a:rPr sz="18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个样本合计</a:t>
            </a:r>
            <a:r>
              <a:rPr sz="18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800</a:t>
            </a:r>
            <a:r>
              <a:rPr sz="18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</a:t>
            </a:r>
            <a:r>
              <a:rPr sz="18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样本</a:t>
            </a:r>
            <a:endParaRPr sz="1875" b="0">
              <a:solidFill>
                <a:srgbClr val="5367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0953" y="0"/>
            <a:ext cx="11610094" cy="6534150"/>
          </a:xfrm>
          <a:prstGeom prst="rect">
            <a:avLst/>
          </a:prstGeom>
        </p:spPr>
      </p:pic>
      <p:sp>
        <p:nvSpPr>
          <p:cNvPr id="2" name="slide-number"/>
          <p:cNvSpPr>
            <a:spLocks noGrp="1"/>
          </p:cNvSpPr>
          <p:nvPr/>
        </p:nvSpPr>
        <p:spPr>
          <a:xfrm>
            <a:off x="11430000" y="6591300"/>
            <a:ext cx="40005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75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r">
              <a:defRPr sz="1275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r">
              <a:defRPr sz="1275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r">
              <a:defRPr sz="1275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r">
              <a:defRPr sz="1275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r">
              <a:defRPr sz="1275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r">
              <a:defRPr sz="1275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r">
              <a:defRPr sz="1275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r">
              <a:defRPr sz="1275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r">
              <a:defRPr sz="1275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r">
              <a:lnSpc>
                <a:spcPct val="105000"/>
              </a:lnSpc>
              <a:buNone/>
              <a:defRPr sz="1275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</a:t>
            </a:r>
            <a:endParaRPr sz="1275">
              <a:solidFill>
                <a:srgbClr val="5367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2" name="slide-title"/>
          <p:cNvSpPr>
            <a:spLocks noGrp="1"/>
          </p:cNvSpPr>
          <p:nvPr/>
        </p:nvSpPr>
        <p:spPr>
          <a:xfrm>
            <a:off x="609600" y="428625"/>
            <a:ext cx="109728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buNone/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buNone/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buNone/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buNone/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buNone/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buNone/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buNone/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buNone/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buNone/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lnSpc>
                <a:spcPct val="122000"/>
              </a:lnSpc>
              <a:buNone/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方法二｜方案设计</a:t>
            </a:r>
            <a:endParaRPr sz="3300" b="1">
              <a:solidFill>
                <a:srgbClr val="132B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slide-number"/>
          <p:cNvSpPr>
            <a:spLocks noGrp="1"/>
          </p:cNvSpPr>
          <p:nvPr/>
        </p:nvSpPr>
        <p:spPr>
          <a:xfrm>
            <a:off x="11258550" y="6400800"/>
            <a:ext cx="4000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r">
              <a:buNone/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r">
              <a:buNone/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r">
              <a:buNone/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r">
              <a:buNone/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r">
              <a:buNone/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r">
              <a:buNone/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r">
              <a:buNone/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r">
              <a:buNone/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r">
              <a:buNone/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r">
              <a:lnSpc>
                <a:spcPct val="122000"/>
              </a:lnSpc>
              <a:buNone/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11</a:t>
            </a:r>
            <a:endParaRPr sz="1275" b="0">
              <a:solidFill>
                <a:srgbClr val="5367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lead"/>
          <p:cNvSpPr>
            <a:spLocks noGrp="1"/>
          </p:cNvSpPr>
          <p:nvPr/>
        </p:nvSpPr>
        <p:spPr>
          <a:xfrm>
            <a:off x="609600" y="1295400"/>
            <a:ext cx="1082040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buNone/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buNone/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buNone/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buNone/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buNone/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buNone/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buNone/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buNone/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buNone/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lnSpc>
                <a:spcPct val="122000"/>
              </a:lnSpc>
              <a:buNone/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发送端用G增强编码，接收端重构同一公共输入</a:t>
            </a:r>
            <a:endParaRPr sz="2250" b="1">
              <a:solidFill>
                <a:srgbClr val="167E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step-1"/>
          <p:cNvSpPr>
            <a:spLocks noGrp="1"/>
          </p:cNvSpPr>
          <p:nvPr/>
        </p:nvSpPr>
        <p:spPr>
          <a:xfrm>
            <a:off x="628650" y="2076450"/>
            <a:ext cx="4572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8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buNone/>
              <a:defRPr sz="28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buNone/>
              <a:defRPr sz="28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buNone/>
              <a:defRPr sz="28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buNone/>
              <a:defRPr sz="28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buNone/>
              <a:defRPr sz="28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buNone/>
              <a:defRPr sz="28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buNone/>
              <a:defRPr sz="28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buNone/>
              <a:defRPr sz="28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buNone/>
              <a:defRPr sz="28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lnSpc>
                <a:spcPct val="122000"/>
              </a:lnSpc>
              <a:buNone/>
              <a:defRPr sz="28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8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sz="2850" b="1">
              <a:solidFill>
                <a:srgbClr val="167E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body-4"/>
          <p:cNvSpPr>
            <a:spLocks noGrp="1"/>
          </p:cNvSpPr>
          <p:nvPr/>
        </p:nvSpPr>
        <p:spPr>
          <a:xfrm>
            <a:off x="1257300" y="2076450"/>
            <a:ext cx="1009650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025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buNone/>
              <a:defRPr sz="2100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buNone/>
              <a:defRPr sz="2100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buNone/>
              <a:defRPr sz="2100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buNone/>
              <a:defRPr sz="2100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buNone/>
              <a:defRPr sz="2100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buNone/>
              <a:defRPr sz="2100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buNone/>
              <a:defRPr sz="2100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buNone/>
              <a:defRPr sz="2100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buNone/>
              <a:defRPr sz="2100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lnSpc>
                <a:spcPct val="122000"/>
              </a:lnSpc>
              <a:buNone/>
              <a:defRPr sz="2025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发送端处理S＋G＋P₀，导出G＋P₀位置KV；</a:t>
            </a:r>
            <a:endParaRPr sz="2100" b="0">
              <a:solidFill>
                <a:srgbClr val="132B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22000"/>
              </a:lnSpc>
              <a:buNone/>
              <a:defRPr sz="2025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纯净参照仅处理G＋P₀，保持相同RoPE位置</a:t>
            </a:r>
            <a:endParaRPr sz="2100" b="0">
              <a:solidFill>
                <a:srgbClr val="132B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step-2"/>
          <p:cNvSpPr>
            <a:spLocks noGrp="1"/>
          </p:cNvSpPr>
          <p:nvPr/>
        </p:nvSpPr>
        <p:spPr>
          <a:xfrm>
            <a:off x="628650" y="3124200"/>
            <a:ext cx="4572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8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buNone/>
              <a:defRPr sz="28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buNone/>
              <a:defRPr sz="28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buNone/>
              <a:defRPr sz="28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buNone/>
              <a:defRPr sz="28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buNone/>
              <a:defRPr sz="28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buNone/>
              <a:defRPr sz="28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buNone/>
              <a:defRPr sz="28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buNone/>
              <a:defRPr sz="28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buNone/>
              <a:defRPr sz="28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lnSpc>
                <a:spcPct val="122000"/>
              </a:lnSpc>
              <a:buNone/>
              <a:defRPr sz="28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8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sz="2850" b="1">
              <a:solidFill>
                <a:srgbClr val="167E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body-6"/>
          <p:cNvSpPr>
            <a:spLocks noGrp="1"/>
          </p:cNvSpPr>
          <p:nvPr/>
        </p:nvSpPr>
        <p:spPr>
          <a:xfrm>
            <a:off x="1257300" y="3124200"/>
            <a:ext cx="1009650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025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buNone/>
              <a:defRPr sz="2100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buNone/>
              <a:defRPr sz="2100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buNone/>
              <a:defRPr sz="2100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buNone/>
              <a:defRPr sz="2100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buNone/>
              <a:defRPr sz="2100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buNone/>
              <a:defRPr sz="2100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buNone/>
              <a:defRPr sz="2100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buNone/>
              <a:defRPr sz="2100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buNone/>
              <a:defRPr sz="2100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lnSpc>
                <a:spcPct val="122000"/>
              </a:lnSpc>
              <a:buNone/>
              <a:defRPr sz="2025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接收端处理Uθ＋G＋P₀，用问题Query对ΔK评分，</a:t>
            </a:r>
            <a:endParaRPr sz="2100" b="0">
              <a:solidFill>
                <a:srgbClr val="132B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22000"/>
              </a:lnSpc>
              <a:buNone/>
              <a:defRPr sz="2025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在G与P₀全部位置上计算加权KV重构损失</a:t>
            </a:r>
            <a:endParaRPr sz="2100" b="0">
              <a:solidFill>
                <a:srgbClr val="132B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step-3"/>
          <p:cNvSpPr>
            <a:spLocks noGrp="1"/>
          </p:cNvSpPr>
          <p:nvPr/>
        </p:nvSpPr>
        <p:spPr>
          <a:xfrm>
            <a:off x="628650" y="4171950"/>
            <a:ext cx="4572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8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buNone/>
              <a:defRPr sz="28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buNone/>
              <a:defRPr sz="28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buNone/>
              <a:defRPr sz="28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buNone/>
              <a:defRPr sz="28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buNone/>
              <a:defRPr sz="28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buNone/>
              <a:defRPr sz="28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buNone/>
              <a:defRPr sz="28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buNone/>
              <a:defRPr sz="28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buNone/>
              <a:defRPr sz="28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lnSpc>
                <a:spcPct val="122000"/>
              </a:lnSpc>
              <a:buNone/>
              <a:defRPr sz="28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8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sz="2850" b="1">
              <a:solidFill>
                <a:srgbClr val="167E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body-8"/>
          <p:cNvSpPr>
            <a:spLocks noGrp="1"/>
          </p:cNvSpPr>
          <p:nvPr/>
        </p:nvSpPr>
        <p:spPr>
          <a:xfrm>
            <a:off x="1257300" y="4171950"/>
            <a:ext cx="1009650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025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buNone/>
              <a:defRPr sz="2100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buNone/>
              <a:defRPr sz="2100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buNone/>
              <a:defRPr sz="2100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buNone/>
              <a:defRPr sz="2100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buNone/>
              <a:defRPr sz="2100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buNone/>
              <a:defRPr sz="2100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buNone/>
              <a:defRPr sz="2100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buNone/>
              <a:defRPr sz="2100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buNone/>
              <a:defRPr sz="2100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lnSpc>
                <a:spcPct val="122000"/>
              </a:lnSpc>
              <a:buNone/>
              <a:defRPr sz="2025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用公共权重、重构误差和对Uθ的注意力评分，</a:t>
            </a:r>
            <a:endParaRPr sz="2100" b="0">
              <a:solidFill>
                <a:srgbClr val="132B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22000"/>
              </a:lnSpc>
              <a:buNone/>
              <a:defRPr sz="2025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缩放Adam更新位移，只更新Uθ，固定G与模型</a:t>
            </a:r>
            <a:endParaRPr sz="2100" b="0">
              <a:solidFill>
                <a:srgbClr val="132B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body-9"/>
          <p:cNvSpPr>
            <a:spLocks noGrp="1"/>
          </p:cNvSpPr>
          <p:nvPr/>
        </p:nvSpPr>
        <p:spPr>
          <a:xfrm>
            <a:off x="1257300" y="5343525"/>
            <a:ext cx="100965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0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buNone/>
              <a:defRPr sz="240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buNone/>
              <a:defRPr sz="240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buNone/>
              <a:defRPr sz="240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buNone/>
              <a:defRPr sz="240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buNone/>
              <a:defRPr sz="240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buNone/>
              <a:defRPr sz="240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buNone/>
              <a:defRPr sz="240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buNone/>
              <a:defRPr sz="240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buNone/>
              <a:defRPr sz="240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lnSpc>
                <a:spcPct val="122000"/>
              </a:lnSpc>
              <a:buNone/>
              <a:defRPr sz="210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L₂＝加权公共KV均方误差（G与P₀使用同一权重规则）</a:t>
            </a:r>
            <a:endParaRPr sz="2400" b="1">
              <a:solidFill>
                <a:srgbClr val="167E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body-10"/>
          <p:cNvSpPr>
            <a:spLocks noGrp="1"/>
          </p:cNvSpPr>
          <p:nvPr/>
        </p:nvSpPr>
        <p:spPr>
          <a:xfrm>
            <a:off x="1257300" y="5876925"/>
            <a:ext cx="100965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72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buNone/>
              <a:defRPr sz="1800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buNone/>
              <a:defRPr sz="1800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buNone/>
              <a:defRPr sz="1800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buNone/>
              <a:defRPr sz="1800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buNone/>
              <a:defRPr sz="1800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buNone/>
              <a:defRPr sz="1800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buNone/>
              <a:defRPr sz="1800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buNone/>
              <a:defRPr sz="1800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buNone/>
              <a:defRPr sz="1800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lnSpc>
                <a:spcPct val="122000"/>
              </a:lnSpc>
              <a:buNone/>
              <a:defRPr sz="172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G：语义完整复制／号码逐字符重组／日期按年月日提取</a:t>
            </a:r>
            <a:endParaRPr sz="1800" b="0">
              <a:solidFill>
                <a:srgbClr val="5367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22000"/>
              </a:lnSpc>
              <a:buNone/>
              <a:defRPr sz="172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前400步普通更新，之后位置倍率强度0.75，EMA＝0</a:t>
            </a:r>
            <a:endParaRPr sz="1800" b="0">
              <a:solidFill>
                <a:srgbClr val="5367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37" y="0"/>
            <a:ext cx="11423927" cy="6429375"/>
          </a:xfrm>
          <a:prstGeom prst="rect">
            <a:avLst/>
          </a:prstGeom>
        </p:spPr>
      </p:pic>
      <p:sp>
        <p:nvSpPr>
          <p:cNvPr id="2" name="implementation-note"/>
          <p:cNvSpPr>
            <a:spLocks noGrp="1"/>
          </p:cNvSpPr>
          <p:nvPr/>
        </p:nvSpPr>
        <p:spPr>
          <a:xfrm>
            <a:off x="323850" y="6505575"/>
            <a:ext cx="109537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575">
                <a:solidFill>
                  <a:srgbClr val="9B5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575">
                <a:solidFill>
                  <a:srgbClr val="9B5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575">
                <a:solidFill>
                  <a:srgbClr val="9B5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575">
                <a:solidFill>
                  <a:srgbClr val="9B5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575">
                <a:solidFill>
                  <a:srgbClr val="9B5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575">
                <a:solidFill>
                  <a:srgbClr val="9B5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575">
                <a:solidFill>
                  <a:srgbClr val="9B5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575">
                <a:solidFill>
                  <a:srgbClr val="9B5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575">
                <a:solidFill>
                  <a:srgbClr val="9B5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575">
                <a:solidFill>
                  <a:srgbClr val="9B5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lnSpc>
                <a:spcPct val="105000"/>
              </a:lnSpc>
              <a:buNone/>
              <a:defRPr sz="1575">
                <a:solidFill>
                  <a:srgbClr val="9B5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>
                <a:solidFill>
                  <a:srgbClr val="9B5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当前实现：先计算ΔK，再由问题Query评分并归一化，不使用图中的两组权重相减。</a:t>
            </a:r>
            <a:endParaRPr sz="1575">
              <a:solidFill>
                <a:srgbClr val="9B5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slide-number"/>
          <p:cNvSpPr>
            <a:spLocks noGrp="1"/>
          </p:cNvSpPr>
          <p:nvPr/>
        </p:nvSpPr>
        <p:spPr>
          <a:xfrm>
            <a:off x="11430000" y="6591300"/>
            <a:ext cx="40005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75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r">
              <a:defRPr sz="1275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r">
              <a:defRPr sz="1275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r">
              <a:defRPr sz="1275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r">
              <a:defRPr sz="1275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r">
              <a:defRPr sz="1275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r">
              <a:defRPr sz="1275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r">
              <a:defRPr sz="1275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r">
              <a:defRPr sz="1275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r">
              <a:defRPr sz="1275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r">
              <a:lnSpc>
                <a:spcPct val="105000"/>
              </a:lnSpc>
              <a:buNone/>
              <a:defRPr sz="1275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12</a:t>
            </a:r>
            <a:endParaRPr sz="1275">
              <a:solidFill>
                <a:srgbClr val="5367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slide-title"/>
          <p:cNvSpPr>
            <a:spLocks noGrp="1"/>
          </p:cNvSpPr>
          <p:nvPr/>
        </p:nvSpPr>
        <p:spPr>
          <a:xfrm>
            <a:off x="609600" y="428625"/>
            <a:ext cx="109728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buNone/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buNone/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buNone/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buNone/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buNone/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buNone/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buNone/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buNone/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buNone/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lnSpc>
                <a:spcPct val="122000"/>
              </a:lnSpc>
              <a:buNone/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方法二｜实验结果</a:t>
            </a:r>
            <a:endParaRPr sz="3300" b="1">
              <a:solidFill>
                <a:srgbClr val="132B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slide-number"/>
          <p:cNvSpPr>
            <a:spLocks noGrp="1"/>
          </p:cNvSpPr>
          <p:nvPr/>
        </p:nvSpPr>
        <p:spPr>
          <a:xfrm>
            <a:off x="11258550" y="6400800"/>
            <a:ext cx="4000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r">
              <a:buNone/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r">
              <a:buNone/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r">
              <a:buNone/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r">
              <a:buNone/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r">
              <a:buNone/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r">
              <a:buNone/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r">
              <a:buNone/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r">
              <a:buNone/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r">
              <a:buNone/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r">
              <a:lnSpc>
                <a:spcPct val="122000"/>
              </a:lnSpc>
              <a:buNone/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13</a:t>
            </a:r>
            <a:endParaRPr sz="1275" b="0">
              <a:solidFill>
                <a:srgbClr val="5367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body-2"/>
          <p:cNvSpPr>
            <a:spLocks noGrp="1"/>
          </p:cNvSpPr>
          <p:nvPr/>
        </p:nvSpPr>
        <p:spPr>
          <a:xfrm>
            <a:off x="628650" y="1247775"/>
            <a:ext cx="1076325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buNone/>
              <a:defRPr sz="18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buNone/>
              <a:defRPr sz="18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buNone/>
              <a:defRPr sz="18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buNone/>
              <a:defRPr sz="18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buNone/>
              <a:defRPr sz="18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buNone/>
              <a:defRPr sz="18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buNone/>
              <a:defRPr sz="18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buNone/>
              <a:defRPr sz="18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buNone/>
              <a:defRPr sz="18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lnSpc>
                <a:spcPct val="122000"/>
              </a:lnSpc>
              <a:buNone/>
              <a:defRPr sz="18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恢复分 · 完全匹配 EM · 语义相似度 CS</a:t>
            </a:r>
            <a:endParaRPr sz="1875" b="0">
              <a:solidFill>
                <a:srgbClr val="5367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0953" y="0"/>
            <a:ext cx="11610094" cy="6534150"/>
          </a:xfrm>
          <a:prstGeom prst="rect">
            <a:avLst/>
          </a:prstGeom>
        </p:spPr>
      </p:pic>
      <p:sp>
        <p:nvSpPr>
          <p:cNvPr id="2" name="slide-number"/>
          <p:cNvSpPr>
            <a:spLocks noGrp="1"/>
          </p:cNvSpPr>
          <p:nvPr/>
        </p:nvSpPr>
        <p:spPr>
          <a:xfrm>
            <a:off x="11430000" y="6591300"/>
            <a:ext cx="40005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75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r">
              <a:defRPr sz="1275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r">
              <a:defRPr sz="1275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r">
              <a:defRPr sz="1275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r">
              <a:defRPr sz="1275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r">
              <a:defRPr sz="1275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r">
              <a:defRPr sz="1275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r">
              <a:defRPr sz="1275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r">
              <a:defRPr sz="1275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r">
              <a:defRPr sz="1275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r">
              <a:lnSpc>
                <a:spcPct val="105000"/>
              </a:lnSpc>
              <a:buNone/>
              <a:defRPr sz="1275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15</a:t>
            </a:r>
            <a:endParaRPr sz="1275">
              <a:solidFill>
                <a:srgbClr val="5367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0953" y="0"/>
            <a:ext cx="11610094" cy="6534150"/>
          </a:xfrm>
          <a:prstGeom prst="rect">
            <a:avLst/>
          </a:prstGeom>
        </p:spPr>
      </p:pic>
      <p:sp>
        <p:nvSpPr>
          <p:cNvPr id="2" name="slide-number"/>
          <p:cNvSpPr>
            <a:spLocks noGrp="1"/>
          </p:cNvSpPr>
          <p:nvPr/>
        </p:nvSpPr>
        <p:spPr>
          <a:xfrm>
            <a:off x="11430000" y="6591300"/>
            <a:ext cx="40005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75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r">
              <a:defRPr sz="1275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r">
              <a:defRPr sz="1275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r">
              <a:defRPr sz="1275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r">
              <a:defRPr sz="1275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r">
              <a:defRPr sz="1275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r">
              <a:defRPr sz="1275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r">
              <a:defRPr sz="1275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r">
              <a:defRPr sz="1275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r">
              <a:defRPr sz="1275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r">
              <a:lnSpc>
                <a:spcPct val="105000"/>
              </a:lnSpc>
              <a:buNone/>
              <a:defRPr sz="1275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17</a:t>
            </a:r>
            <a:endParaRPr sz="1275">
              <a:solidFill>
                <a:srgbClr val="5367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" name="slide-title"/>
          <p:cNvSpPr>
            <a:spLocks noGrp="1"/>
          </p:cNvSpPr>
          <p:nvPr/>
        </p:nvSpPr>
        <p:spPr>
          <a:xfrm>
            <a:off x="609600" y="428625"/>
            <a:ext cx="109728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buNone/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buNone/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buNone/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buNone/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buNone/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buNone/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buNone/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buNone/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buNone/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lnSpc>
                <a:spcPct val="122000"/>
              </a:lnSpc>
              <a:buNone/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方法三｜当前实验设置</a:t>
            </a:r>
            <a:endParaRPr sz="3300" b="1">
              <a:solidFill>
                <a:srgbClr val="132B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slide-number"/>
          <p:cNvSpPr>
            <a:spLocks noGrp="1"/>
          </p:cNvSpPr>
          <p:nvPr/>
        </p:nvSpPr>
        <p:spPr>
          <a:xfrm>
            <a:off x="11258550" y="6400800"/>
            <a:ext cx="4000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r">
              <a:buNone/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r">
              <a:buNone/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r">
              <a:buNone/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r">
              <a:buNone/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r">
              <a:buNone/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r">
              <a:buNone/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r">
              <a:buNone/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r">
              <a:buNone/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r">
              <a:buNone/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r">
              <a:lnSpc>
                <a:spcPct val="122000"/>
              </a:lnSpc>
              <a:buNone/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18</a:t>
            </a:r>
            <a:endParaRPr sz="1275" b="0">
              <a:solidFill>
                <a:srgbClr val="5367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slide-title"/>
          <p:cNvSpPr>
            <a:spLocks noGrp="1"/>
          </p:cNvSpPr>
          <p:nvPr/>
        </p:nvSpPr>
        <p:spPr>
          <a:xfrm>
            <a:off x="609600" y="428625"/>
            <a:ext cx="109728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buNone/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buNone/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buNone/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buNone/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buNone/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buNone/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buNone/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buNone/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buNone/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lnSpc>
                <a:spcPct val="122000"/>
              </a:lnSpc>
              <a:buNone/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方法三｜实验结果</a:t>
            </a:r>
            <a:endParaRPr sz="3300" b="1">
              <a:solidFill>
                <a:srgbClr val="132B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slide-number"/>
          <p:cNvSpPr>
            <a:spLocks noGrp="1"/>
          </p:cNvSpPr>
          <p:nvPr/>
        </p:nvSpPr>
        <p:spPr>
          <a:xfrm>
            <a:off x="11258550" y="6400800"/>
            <a:ext cx="4000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r">
              <a:buNone/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r">
              <a:buNone/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r">
              <a:buNone/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r">
              <a:buNone/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r">
              <a:buNone/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r">
              <a:buNone/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r">
              <a:buNone/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r">
              <a:buNone/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r">
              <a:buNone/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r">
              <a:lnSpc>
                <a:spcPct val="122000"/>
              </a:lnSpc>
              <a:buNone/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19</a:t>
            </a:r>
            <a:endParaRPr sz="1275" b="0">
              <a:solidFill>
                <a:srgbClr val="5367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body-2"/>
          <p:cNvSpPr>
            <a:spLocks noGrp="1"/>
          </p:cNvSpPr>
          <p:nvPr/>
        </p:nvSpPr>
        <p:spPr>
          <a:xfrm>
            <a:off x="628650" y="1247775"/>
            <a:ext cx="1076325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buNone/>
              <a:defRPr sz="18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buNone/>
              <a:defRPr sz="18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buNone/>
              <a:defRPr sz="18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buNone/>
              <a:defRPr sz="18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buNone/>
              <a:defRPr sz="18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buNone/>
              <a:defRPr sz="18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buNone/>
              <a:defRPr sz="18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buNone/>
              <a:defRPr sz="18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buNone/>
              <a:defRPr sz="18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lnSpc>
                <a:spcPct val="122000"/>
              </a:lnSpc>
              <a:buNone/>
              <a:defRPr sz="18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18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实验设置：训练集来自</a:t>
            </a:r>
            <a:r>
              <a:rPr lang="en-US" altLang="zh-CN" sz="18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Syn</a:t>
            </a:r>
            <a:endParaRPr lang="en-US" altLang="zh-CN" sz="1875" b="0">
              <a:solidFill>
                <a:srgbClr val="5367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122045" y="2373630"/>
            <a:ext cx="10536555" cy="318643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" name="slide-title"/>
          <p:cNvSpPr>
            <a:spLocks noGrp="1"/>
          </p:cNvSpPr>
          <p:nvPr/>
        </p:nvSpPr>
        <p:spPr>
          <a:xfrm>
            <a:off x="609600" y="428625"/>
            <a:ext cx="109728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buNone/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buNone/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buNone/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buNone/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buNone/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buNone/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buNone/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buNone/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buNone/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lnSpc>
                <a:spcPct val="122000"/>
              </a:lnSpc>
              <a:buNone/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目前研究进展</a:t>
            </a:r>
            <a:endParaRPr sz="3300" b="1">
              <a:solidFill>
                <a:srgbClr val="132B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slide-number"/>
          <p:cNvSpPr>
            <a:spLocks noGrp="1"/>
          </p:cNvSpPr>
          <p:nvPr/>
        </p:nvSpPr>
        <p:spPr>
          <a:xfrm>
            <a:off x="11258550" y="6400800"/>
            <a:ext cx="4000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r">
              <a:buNone/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r">
              <a:buNone/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r">
              <a:buNone/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r">
              <a:buNone/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r">
              <a:buNone/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r">
              <a:buNone/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r">
              <a:buNone/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r">
              <a:buNone/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r">
              <a:buNone/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r">
              <a:lnSpc>
                <a:spcPct val="122000"/>
              </a:lnSpc>
              <a:buNone/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</a:t>
            </a:r>
            <a:endParaRPr sz="1275" b="0">
              <a:solidFill>
                <a:srgbClr val="5367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3" name="表格 2"/>
          <p:cNvGraphicFramePr/>
          <p:nvPr/>
        </p:nvGraphicFramePr>
        <p:xfrm>
          <a:off x="609600" y="1657350"/>
          <a:ext cx="10972800" cy="4038600"/>
        </p:xfrm>
        <a:graphic>
          <a:graphicData uri="http://schemas.openxmlformats.org/drawingml/2006/table">
            <a:tbl>
              <a:tblPr/>
              <a:tblGrid>
                <a:gridCol w="2333625"/>
                <a:gridCol w="4333875"/>
                <a:gridCol w="4305300"/>
              </a:tblGrid>
              <a:tr h="590550">
                <a:tc>
                  <a:txBody>
                    <a:bodyPr wrap="square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方法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52400" marT="133350" marB="133350" anchor="ctr">
                    <a:lnL w="9525">
                      <a:solidFill>
                        <a:srgbClr val="D9E4E3"/>
                      </a:solidFill>
                      <a:prstDash val="solid"/>
                    </a:lnL>
                    <a:lnR w="9525">
                      <a:solidFill>
                        <a:srgbClr val="D9E4E3"/>
                      </a:solidFill>
                      <a:prstDash val="solid"/>
                    </a:lnR>
                    <a:lnT w="9525">
                      <a:solidFill>
                        <a:srgbClr val="D9E4E3"/>
                      </a:solidFill>
                      <a:prstDash val="solid"/>
                    </a:lnT>
                    <a:lnB w="9525">
                      <a:solidFill>
                        <a:srgbClr val="D9E4E3"/>
                      </a:solidFill>
                      <a:prstDash val="solid"/>
                    </a:lnB>
                    <a:solidFill>
                      <a:srgbClr val="132B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已形成的研究内容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52400" marT="133350" marB="133350" anchor="ctr">
                    <a:lnR w="9525">
                      <a:solidFill>
                        <a:srgbClr val="D9E4E3"/>
                      </a:solidFill>
                      <a:prstDash val="solid"/>
                    </a:lnR>
                    <a:lnT w="9525">
                      <a:solidFill>
                        <a:srgbClr val="D9E4E3"/>
                      </a:solidFill>
                      <a:prstDash val="solid"/>
                    </a:lnT>
                    <a:lnB w="9525">
                      <a:solidFill>
                        <a:srgbClr val="D9E4E3"/>
                      </a:solidFill>
                      <a:prstDash val="solid"/>
                    </a:lnB>
                    <a:solidFill>
                      <a:srgbClr val="132B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下一步验证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52400" marT="133350" marB="133350" anchor="ctr">
                    <a:lnR w="9525">
                      <a:solidFill>
                        <a:srgbClr val="D9E4E3"/>
                      </a:solidFill>
                      <a:prstDash val="solid"/>
                    </a:lnR>
                    <a:lnT w="9525">
                      <a:solidFill>
                        <a:srgbClr val="D9E4E3"/>
                      </a:solidFill>
                      <a:prstDash val="solid"/>
                    </a:lnT>
                    <a:lnB w="9525">
                      <a:solidFill>
                        <a:srgbClr val="D9E4E3"/>
                      </a:solidFill>
                      <a:prstDash val="solid"/>
                    </a:lnB>
                    <a:solidFill>
                      <a:srgbClr val="132B3A"/>
                    </a:solidFill>
                  </a:tcPr>
                </a:tc>
              </a:tr>
              <a:tr h="1149350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32B3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一｜基线</a:t>
                      </a:r>
                      <a:endParaRPr sz="1875" b="0">
                        <a:solidFill>
                          <a:srgbClr val="132B3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52400" marT="133350" marB="133350" anchor="ctr">
                    <a:lnL w="9525">
                      <a:solidFill>
                        <a:srgbClr val="D9E4E3"/>
                      </a:solidFill>
                      <a:prstDash val="solid"/>
                    </a:lnL>
                    <a:lnR w="9525">
                      <a:solidFill>
                        <a:srgbClr val="D9E4E3"/>
                      </a:solidFill>
                      <a:prstDash val="solid"/>
                    </a:lnR>
                    <a:lnB w="9525">
                      <a:solidFill>
                        <a:srgbClr val="D9E4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32B3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800条来源记录、4类场景</a:t>
                      </a:r>
                      <a:endParaRPr sz="1875" b="0">
                        <a:solidFill>
                          <a:srgbClr val="132B3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r>
                        <a:rPr sz="1875" b="0">
                          <a:solidFill>
                            <a:srgbClr val="132B3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逐token KV重建与独立评分</a:t>
                      </a:r>
                      <a:endParaRPr sz="1875" b="0">
                        <a:solidFill>
                          <a:srgbClr val="132B3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52400" marT="133350" marB="133350" anchor="ctr">
                    <a:lnR w="9525">
                      <a:solidFill>
                        <a:srgbClr val="D9E4E3"/>
                      </a:solidFill>
                      <a:prstDash val="solid"/>
                    </a:lnR>
                    <a:lnB w="9525">
                      <a:solidFill>
                        <a:srgbClr val="D9E4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32B3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跨字段的恢复表现</a:t>
                      </a:r>
                      <a:endParaRPr sz="1875" b="0">
                        <a:solidFill>
                          <a:srgbClr val="132B3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r>
                        <a:rPr sz="1875" b="0">
                          <a:solidFill>
                            <a:srgbClr val="132B3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不同优化预算下的稳定性</a:t>
                      </a:r>
                      <a:endParaRPr sz="1875" b="0">
                        <a:solidFill>
                          <a:srgbClr val="132B3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52400" marT="133350" marB="133350" anchor="ctr">
                    <a:lnR w="9525">
                      <a:solidFill>
                        <a:srgbClr val="D9E4E3"/>
                      </a:solidFill>
                      <a:prstDash val="solid"/>
                    </a:lnR>
                    <a:lnB w="9525">
                      <a:solidFill>
                        <a:srgbClr val="D9E4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149350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32B3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二｜字段引导</a:t>
                      </a:r>
                      <a:endParaRPr sz="1875" b="0">
                        <a:solidFill>
                          <a:srgbClr val="132B3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r>
                        <a:rPr sz="1875" b="0">
                          <a:solidFill>
                            <a:srgbClr val="132B3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与加权重构</a:t>
                      </a:r>
                      <a:endParaRPr sz="1875" b="0">
                        <a:solidFill>
                          <a:srgbClr val="132B3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52400" marT="133350" marB="133350" anchor="ctr">
                    <a:lnL w="9525">
                      <a:solidFill>
                        <a:srgbClr val="D9E4E3"/>
                      </a:solidFill>
                      <a:prstDash val="solid"/>
                    </a:lnL>
                    <a:lnR w="9525">
                      <a:solidFill>
                        <a:srgbClr val="D9E4E3"/>
                      </a:solidFill>
                      <a:prstDash val="solid"/>
                    </a:lnR>
                    <a:lnB w="9525">
                      <a:solidFill>
                        <a:srgbClr val="D9E4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32B3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字段引导增强公共KV编码</a:t>
                      </a:r>
                      <a:endParaRPr sz="1875" b="0">
                        <a:solidFill>
                          <a:srgbClr val="132B3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r>
                        <a:rPr sz="1875" b="0">
                          <a:solidFill>
                            <a:srgbClr val="132B3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问题引导的Key差分加权重构</a:t>
                      </a:r>
                      <a:endParaRPr sz="1875" b="0">
                        <a:solidFill>
                          <a:srgbClr val="132B3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r>
                        <a:rPr sz="1875" b="0">
                          <a:solidFill>
                            <a:srgbClr val="132B3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注意力引导的软前缀位置更新</a:t>
                      </a:r>
                      <a:endParaRPr sz="1875" b="0">
                        <a:solidFill>
                          <a:srgbClr val="132B3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52400" marT="133350" marB="133350" anchor="ctr">
                    <a:lnR w="9525">
                      <a:solidFill>
                        <a:srgbClr val="D9E4E3"/>
                      </a:solidFill>
                      <a:prstDash val="solid"/>
                    </a:lnR>
                    <a:lnB w="9525">
                      <a:solidFill>
                        <a:srgbClr val="D9E4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32B3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确认实际缓存含新版G</a:t>
                      </a:r>
                      <a:endParaRPr sz="1875" b="0">
                        <a:solidFill>
                          <a:srgbClr val="132B3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r>
                        <a:rPr sz="1875" b="0">
                          <a:solidFill>
                            <a:srgbClr val="132B3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分离引导、加权与位置更新的贡献</a:t>
                      </a:r>
                      <a:endParaRPr sz="1875" b="0">
                        <a:solidFill>
                          <a:srgbClr val="132B3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52400" marT="133350" marB="133350" anchor="ctr">
                    <a:lnR w="9525">
                      <a:solidFill>
                        <a:srgbClr val="D9E4E3"/>
                      </a:solidFill>
                      <a:prstDash val="solid"/>
                    </a:lnR>
                    <a:lnB w="9525">
                      <a:solidFill>
                        <a:srgbClr val="D9E4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149350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32B3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三｜通用引导</a:t>
                      </a:r>
                      <a:endParaRPr sz="1875" b="0">
                        <a:solidFill>
                          <a:srgbClr val="132B3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52400" marT="133350" marB="133350" anchor="ctr">
                    <a:lnL w="9525">
                      <a:solidFill>
                        <a:srgbClr val="D9E4E3"/>
                      </a:solidFill>
                      <a:prstDash val="solid"/>
                    </a:lnL>
                    <a:lnR w="9525">
                      <a:solidFill>
                        <a:srgbClr val="D9E4E3"/>
                      </a:solidFill>
                      <a:prstDash val="solid"/>
                    </a:lnR>
                    <a:lnB w="9525">
                      <a:solidFill>
                        <a:srgbClr val="D9E4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32B3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共享U；独立患者划分</a:t>
                      </a:r>
                      <a:endParaRPr sz="1875" b="0">
                        <a:solidFill>
                          <a:srgbClr val="132B3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r>
                        <a:rPr sz="1875" b="0">
                          <a:solidFill>
                            <a:srgbClr val="132B3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姓名／生日拆问；无负样本配置</a:t>
                      </a:r>
                      <a:endParaRPr sz="1875" b="0">
                        <a:solidFill>
                          <a:srgbClr val="132B3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52400" marT="133350" marB="133350" anchor="ctr">
                    <a:lnR w="9525">
                      <a:solidFill>
                        <a:srgbClr val="D9E4E3"/>
                      </a:solidFill>
                      <a:prstDash val="solid"/>
                    </a:lnR>
                    <a:lnB w="9525">
                      <a:solidFill>
                        <a:srgbClr val="D9E4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32B3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独立患者上的精确恢复</a:t>
                      </a:r>
                      <a:endParaRPr sz="1875" b="0">
                        <a:solidFill>
                          <a:srgbClr val="132B3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r>
                        <a:rPr sz="1875" b="0">
                          <a:solidFill>
                            <a:srgbClr val="132B3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离散文本与真实复用效果</a:t>
                      </a:r>
                      <a:endParaRPr sz="1875" b="0">
                        <a:solidFill>
                          <a:srgbClr val="132B3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52400" marT="133350" marB="133350" anchor="ctr">
                    <a:lnR w="9525">
                      <a:solidFill>
                        <a:srgbClr val="D9E4E3"/>
                      </a:solidFill>
                      <a:prstDash val="solid"/>
                    </a:lnR>
                    <a:lnB w="9525">
                      <a:solidFill>
                        <a:srgbClr val="D9E4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body-2"/>
          <p:cNvSpPr>
            <a:spLocks noGrp="1"/>
          </p:cNvSpPr>
          <p:nvPr/>
        </p:nvSpPr>
        <p:spPr>
          <a:xfrm>
            <a:off x="628650" y="5981700"/>
            <a:ext cx="108966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025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buNone/>
              <a:defRPr sz="2025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buNone/>
              <a:defRPr sz="2025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buNone/>
              <a:defRPr sz="2025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buNone/>
              <a:defRPr sz="2025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buNone/>
              <a:defRPr sz="2025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buNone/>
              <a:defRPr sz="2025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buNone/>
              <a:defRPr sz="2025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buNone/>
              <a:defRPr sz="2025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buNone/>
              <a:defRPr sz="2025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lnSpc>
                <a:spcPct val="122000"/>
              </a:lnSpc>
              <a:buNone/>
              <a:defRPr sz="2025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统一主线：从“缓存里能恢复什么”推进到“哪些能力足以触发泄露”</a:t>
            </a:r>
            <a:endParaRPr sz="2025" b="1">
              <a:solidFill>
                <a:srgbClr val="167E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1" name="slide-title"/>
          <p:cNvSpPr>
            <a:spLocks noGrp="1"/>
          </p:cNvSpPr>
          <p:nvPr/>
        </p:nvSpPr>
        <p:spPr>
          <a:xfrm>
            <a:off x="609600" y="428625"/>
            <a:ext cx="109728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buNone/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buNone/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buNone/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buNone/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buNone/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buNone/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buNone/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buNone/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buNone/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lnSpc>
                <a:spcPct val="122000"/>
              </a:lnSpc>
              <a:buNone/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研究边界与后续验证</a:t>
            </a:r>
            <a:endParaRPr sz="3300" b="1">
              <a:solidFill>
                <a:srgbClr val="132B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slide-number"/>
          <p:cNvSpPr>
            <a:spLocks noGrp="1"/>
          </p:cNvSpPr>
          <p:nvPr/>
        </p:nvSpPr>
        <p:spPr>
          <a:xfrm>
            <a:off x="11258550" y="6400800"/>
            <a:ext cx="4000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r">
              <a:buNone/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r">
              <a:buNone/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r">
              <a:buNone/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r">
              <a:buNone/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r">
              <a:buNone/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r">
              <a:buNone/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r">
              <a:buNone/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r">
              <a:buNone/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r">
              <a:buNone/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r">
              <a:lnSpc>
                <a:spcPct val="122000"/>
              </a:lnSpc>
              <a:buNone/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21</a:t>
            </a:r>
            <a:endParaRPr sz="1275" b="0">
              <a:solidFill>
                <a:srgbClr val="5367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lead"/>
          <p:cNvSpPr>
            <a:spLocks noGrp="1"/>
          </p:cNvSpPr>
          <p:nvPr/>
        </p:nvSpPr>
        <p:spPr>
          <a:xfrm>
            <a:off x="609600" y="1295400"/>
            <a:ext cx="1082040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buNone/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buNone/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buNone/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buNone/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buNone/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buNone/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buNone/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buNone/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buNone/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lnSpc>
                <a:spcPct val="122000"/>
              </a:lnSpc>
              <a:buNone/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用三种方法逐步收紧攻击者能力假设</a:t>
            </a:r>
            <a:endParaRPr sz="2250" b="1">
              <a:solidFill>
                <a:srgbClr val="167E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body-3"/>
          <p:cNvSpPr>
            <a:spLocks noGrp="1"/>
          </p:cNvSpPr>
          <p:nvPr/>
        </p:nvSpPr>
        <p:spPr>
          <a:xfrm>
            <a:off x="647700" y="2305050"/>
            <a:ext cx="2724150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buNone/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buNone/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buNone/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buNone/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buNone/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buNone/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buNone/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buNone/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buNone/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lnSpc>
                <a:spcPct val="122000"/>
              </a:lnSpc>
              <a:buNone/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缓存可读时</a:t>
            </a:r>
            <a:endParaRPr sz="2250" b="1">
              <a:solidFill>
                <a:srgbClr val="167E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body-4"/>
          <p:cNvSpPr>
            <a:spLocks noGrp="1"/>
          </p:cNvSpPr>
          <p:nvPr/>
        </p:nvSpPr>
        <p:spPr>
          <a:xfrm>
            <a:off x="3600450" y="2305050"/>
            <a:ext cx="7867650" cy="8667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buNone/>
              <a:defRPr sz="2175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buNone/>
              <a:defRPr sz="2175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buNone/>
              <a:defRPr sz="2175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buNone/>
              <a:defRPr sz="2175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buNone/>
              <a:defRPr sz="2175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buNone/>
              <a:defRPr sz="2175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buNone/>
              <a:defRPr sz="2175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buNone/>
              <a:defRPr sz="2175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buNone/>
              <a:defRPr sz="2175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lnSpc>
                <a:spcPct val="122000"/>
              </a:lnSpc>
              <a:buNone/>
              <a:defRPr sz="2175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比较逐token重建与“引导编码＋加权重构＋位置更新”的字段恢复能力</a:t>
            </a:r>
            <a:endParaRPr sz="2175" b="0">
              <a:solidFill>
                <a:srgbClr val="132B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body-5"/>
          <p:cNvSpPr>
            <a:spLocks noGrp="1"/>
          </p:cNvSpPr>
          <p:nvPr/>
        </p:nvSpPr>
        <p:spPr>
          <a:xfrm>
            <a:off x="647700" y="3495675"/>
            <a:ext cx="2724150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buNone/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buNone/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buNone/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buNone/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buNone/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buNone/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buNone/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buNone/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buNone/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lnSpc>
                <a:spcPct val="122000"/>
              </a:lnSpc>
              <a:buNone/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只控制文本时</a:t>
            </a:r>
            <a:endParaRPr sz="2250" b="1">
              <a:solidFill>
                <a:srgbClr val="167E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body-6"/>
          <p:cNvSpPr>
            <a:spLocks noGrp="1"/>
          </p:cNvSpPr>
          <p:nvPr/>
        </p:nvSpPr>
        <p:spPr>
          <a:xfrm>
            <a:off x="3600450" y="3495675"/>
            <a:ext cx="7867650" cy="8667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buNone/>
              <a:defRPr sz="2175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buNone/>
              <a:defRPr sz="2175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buNone/>
              <a:defRPr sz="2175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buNone/>
              <a:defRPr sz="2175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buNone/>
              <a:defRPr sz="2175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buNone/>
              <a:defRPr sz="2175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buNone/>
              <a:defRPr sz="2175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buNone/>
              <a:defRPr sz="2175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buNone/>
              <a:defRPr sz="2175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lnSpc>
                <a:spcPct val="122000"/>
              </a:lnSpc>
              <a:buNone/>
              <a:defRPr sz="2175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将共享软提示推进为离散文本，并接入真实非前缀复用服务</a:t>
            </a:r>
            <a:endParaRPr sz="2175" b="0">
              <a:solidFill>
                <a:srgbClr val="132B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body-7"/>
          <p:cNvSpPr>
            <a:spLocks noGrp="1"/>
          </p:cNvSpPr>
          <p:nvPr/>
        </p:nvSpPr>
        <p:spPr>
          <a:xfrm>
            <a:off x="647700" y="4686300"/>
            <a:ext cx="2724150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buNone/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buNone/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buNone/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buNone/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buNone/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buNone/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buNone/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buNone/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buNone/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lnSpc>
                <a:spcPct val="122000"/>
              </a:lnSpc>
              <a:buNone/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复用条件改变时</a:t>
            </a:r>
            <a:endParaRPr sz="2250" b="1">
              <a:solidFill>
                <a:srgbClr val="167E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body-8"/>
          <p:cNvSpPr>
            <a:spLocks noGrp="1"/>
          </p:cNvSpPr>
          <p:nvPr/>
        </p:nvSpPr>
        <p:spPr>
          <a:xfrm>
            <a:off x="3600450" y="4686300"/>
            <a:ext cx="7867650" cy="8667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buNone/>
              <a:defRPr sz="2175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buNone/>
              <a:defRPr sz="2175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buNone/>
              <a:defRPr sz="2175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buNone/>
              <a:defRPr sz="2175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buNone/>
              <a:defRPr sz="2175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buNone/>
              <a:defRPr sz="2175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buNone/>
              <a:defRPr sz="2175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buNone/>
              <a:defRPr sz="2175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buNone/>
              <a:defRPr sz="2175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lnSpc>
                <a:spcPct val="122000"/>
              </a:lnSpc>
              <a:buNone/>
              <a:defRPr sz="2175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检验缓存隔离、命中范围和重新计算，是否阻断信息恢复</a:t>
            </a:r>
            <a:endParaRPr sz="2175" b="0">
              <a:solidFill>
                <a:srgbClr val="132B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body-9"/>
          <p:cNvSpPr>
            <a:spLocks noGrp="1"/>
          </p:cNvSpPr>
          <p:nvPr/>
        </p:nvSpPr>
        <p:spPr>
          <a:xfrm>
            <a:off x="647700" y="5895975"/>
            <a:ext cx="10820400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buNone/>
              <a:defRPr sz="21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buNone/>
              <a:defRPr sz="21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buNone/>
              <a:defRPr sz="21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buNone/>
              <a:defRPr sz="21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buNone/>
              <a:defRPr sz="21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buNone/>
              <a:defRPr sz="21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buNone/>
              <a:defRPr sz="21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buNone/>
              <a:defRPr sz="21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buNone/>
              <a:defRPr sz="21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lnSpc>
                <a:spcPct val="122000"/>
              </a:lnSpc>
              <a:buNone/>
              <a:defRPr sz="21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最终回答：在什么访问权限和复用条件下，公共缓存会越过隐私边界？</a:t>
            </a:r>
            <a:endParaRPr sz="2100" b="1">
              <a:solidFill>
                <a:srgbClr val="132B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COMMONDATA" val="eyJoZGlkIjoiZDI4NjEwMmIzYjdlNjk2MGI4OWZlYzc1YWRjNTAwMjgifQ=="/>
</p:tagLst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1336</Words>
  <Application>WPS 演示</Application>
  <PresentationFormat>Converted Presentation</PresentationFormat>
  <Paragraphs>198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5" baseType="lpstr">
      <vt:lpstr>Arial</vt:lpstr>
      <vt:lpstr>宋体</vt:lpstr>
      <vt:lpstr>Wingdings</vt:lpstr>
      <vt:lpstr>微软雅黑</vt:lpstr>
      <vt:lpstr>Arial Unicode MS</vt:lpstr>
      <vt:lpstr>Aptos</vt:lpstr>
      <vt:lpstr>Segoe Print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kevin</cp:lastModifiedBy>
  <cp:revision>1</cp:revision>
  <dcterms:created xsi:type="dcterms:W3CDTF">2026-10-18T14:05:37Z</dcterms:created>
  <dcterms:modified xsi:type="dcterms:W3CDTF">2026-10-18T14:05:37Z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4DFCF644A8C24BCEA34261C50598F8DA_12</vt:lpwstr>
  </property>
  <property fmtid="{D5CDD505-2E9C-101B-9397-08002B2CF9AE}" pid="3" name="KSOProductBuildVer">
    <vt:lpwstr>2052-11.1.0.14309</vt:lpwstr>
  </property>
</Properties>
</file>